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5a1d131fba4397" /><Relationship Type="http://schemas.openxmlformats.org/officeDocument/2006/relationships/extended-properties" Target="/docProps/app.xml" Id="Recb542d41d0f4b7f" /><Relationship Type="http://schemas.openxmlformats.org/officeDocument/2006/relationships/officeDocument" Target="/ppt/presentation.xml" Id="R5ca6ddff5deb4d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cfa88cd7ff4f81"/>
  </p:sldMasterIdLst>
  <p:notesMasterIdLst>
    <p:notesMasterId xmlns:r="http://schemas.openxmlformats.org/officeDocument/2006/relationships" r:id="Rd682010a549e4775"/>
  </p:notesMasterIdLst>
  <p:sldIdLst>
    <p:sldId xmlns:r="http://schemas.openxmlformats.org/officeDocument/2006/relationships" id="256" r:id="Rf22f2a26929845f0"/>
    <p:sldId xmlns:r="http://schemas.openxmlformats.org/officeDocument/2006/relationships" id="257" r:id="R476e89c3232146d5"/>
    <p:sldId xmlns:r="http://schemas.openxmlformats.org/officeDocument/2006/relationships" id="258" r:id="R3e8c39c479544b35"/>
    <p:sldId xmlns:r="http://schemas.openxmlformats.org/officeDocument/2006/relationships" id="259" r:id="R8b02057bdded40b1"/>
    <p:sldId xmlns:r="http://schemas.openxmlformats.org/officeDocument/2006/relationships" id="260" r:id="R3e25aea896d14c7a"/>
    <p:sldId xmlns:r="http://schemas.openxmlformats.org/officeDocument/2006/relationships" id="261" r:id="R7158876d85924d69"/>
    <p:sldId xmlns:r="http://schemas.openxmlformats.org/officeDocument/2006/relationships" id="262" r:id="R741ce49ea275419b"/>
    <p:sldId xmlns:r="http://schemas.openxmlformats.org/officeDocument/2006/relationships" id="263" r:id="Reee2343cce974604"/>
    <p:sldId xmlns:r="http://schemas.openxmlformats.org/officeDocument/2006/relationships" id="264" r:id="Rd2426aa3e8954b1d"/>
    <p:sldId xmlns:r="http://schemas.openxmlformats.org/officeDocument/2006/relationships" id="265" r:id="R5f0f2e5740634788"/>
    <p:sldId xmlns:r="http://schemas.openxmlformats.org/officeDocument/2006/relationships" id="266" r:id="Re1b5f869ac764abd"/>
    <p:sldId xmlns:r="http://schemas.openxmlformats.org/officeDocument/2006/relationships" id="267" r:id="Rc0b6edab43f445b1"/>
    <p:sldId xmlns:r="http://schemas.openxmlformats.org/officeDocument/2006/relationships" id="268" r:id="Rd8e1198144a44dd4"/>
    <p:sldId xmlns:r="http://schemas.openxmlformats.org/officeDocument/2006/relationships" id="269" r:id="R09d0299f2ad34200"/>
    <p:sldId xmlns:r="http://schemas.openxmlformats.org/officeDocument/2006/relationships" id="270" r:id="R90ba7984021d4061"/>
    <p:sldId xmlns:r="http://schemas.openxmlformats.org/officeDocument/2006/relationships" id="271" r:id="R2f4e865b2dea41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0a33e0beb487f" /><Relationship Type="http://schemas.openxmlformats.org/officeDocument/2006/relationships/slideMaster" Target="/ppt/slideMasters/slideMaster1.xml" Id="Rf5cfa88cd7ff4f81" /><Relationship Type="http://schemas.openxmlformats.org/officeDocument/2006/relationships/notesMaster" Target="/ppt/notesMasters/notesMaster1.xml" Id="Rd682010a549e4775" /><Relationship Type="http://schemas.openxmlformats.org/officeDocument/2006/relationships/presProps" Target="/ppt/presProps.xml" Id="Rbb982c81f22149b6" /><Relationship Type="http://schemas.openxmlformats.org/officeDocument/2006/relationships/tableStyles" Target="/ppt/tableStyles.xml" Id="R282035c7ea55497f" /><Relationship Type="http://schemas.openxmlformats.org/officeDocument/2006/relationships/slide" Target="/ppt/slides/slide1.xml" Id="Rf22f2a26929845f0" /><Relationship Type="http://schemas.openxmlformats.org/officeDocument/2006/relationships/slide" Target="/ppt/slides/slide2.xml" Id="R476e89c3232146d5" /><Relationship Type="http://schemas.openxmlformats.org/officeDocument/2006/relationships/slide" Target="/ppt/slides/slide3.xml" Id="R3e8c39c479544b35" /><Relationship Type="http://schemas.openxmlformats.org/officeDocument/2006/relationships/slide" Target="/ppt/slides/slide4.xml" Id="R8b02057bdded40b1" /><Relationship Type="http://schemas.openxmlformats.org/officeDocument/2006/relationships/slide" Target="/ppt/slides/slide5.xml" Id="R3e25aea896d14c7a" /><Relationship Type="http://schemas.openxmlformats.org/officeDocument/2006/relationships/slide" Target="/ppt/slides/slide6.xml" Id="R7158876d85924d69" /><Relationship Type="http://schemas.openxmlformats.org/officeDocument/2006/relationships/slide" Target="/ppt/slides/slide7.xml" Id="R741ce49ea275419b" /><Relationship Type="http://schemas.openxmlformats.org/officeDocument/2006/relationships/slide" Target="/ppt/slides/slide8.xml" Id="Reee2343cce974604" /><Relationship Type="http://schemas.openxmlformats.org/officeDocument/2006/relationships/slide" Target="/ppt/slides/slide9.xml" Id="Rd2426aa3e8954b1d" /><Relationship Type="http://schemas.openxmlformats.org/officeDocument/2006/relationships/slide" Target="/ppt/slides/slide10.xml" Id="R5f0f2e5740634788" /><Relationship Type="http://schemas.openxmlformats.org/officeDocument/2006/relationships/slide" Target="/ppt/slides/slide11.xml" Id="Re1b5f869ac764abd" /><Relationship Type="http://schemas.openxmlformats.org/officeDocument/2006/relationships/slide" Target="/ppt/slides/slide12.xml" Id="Rc0b6edab43f445b1" /><Relationship Type="http://schemas.openxmlformats.org/officeDocument/2006/relationships/slide" Target="/ppt/slides/slide13.xml" Id="Rd8e1198144a44dd4" /><Relationship Type="http://schemas.openxmlformats.org/officeDocument/2006/relationships/slide" Target="/ppt/slides/slide14.xml" Id="R09d0299f2ad34200" /><Relationship Type="http://schemas.openxmlformats.org/officeDocument/2006/relationships/slide" Target="/ppt/slides/slide15.xml" Id="R90ba7984021d4061" /><Relationship Type="http://schemas.openxmlformats.org/officeDocument/2006/relationships/slide" Target="/ppt/slides/slide16.xml" Id="R2f4e865b2dea41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59454813d49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1ca00e6df491d" /><Relationship Type="http://schemas.openxmlformats.org/officeDocument/2006/relationships/notesMaster" Target="/ppt/notesMasters/notesMaster1.xml" Id="Rf5621a6215fb43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fcd5eca079470d" /><Relationship Type="http://schemas.openxmlformats.org/officeDocument/2006/relationships/notesMaster" Target="/ppt/notesMasters/notesMaster1.xml" Id="R12cef2a9dc01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cb11677844469d" /><Relationship Type="http://schemas.openxmlformats.org/officeDocument/2006/relationships/notesMaster" Target="/ppt/notesMasters/notesMaster1.xml" Id="R58b84f0cf3c74d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f3a79efca84a3b" /><Relationship Type="http://schemas.openxmlformats.org/officeDocument/2006/relationships/notesMaster" Target="/ppt/notesMasters/notesMaster1.xml" Id="Rb595510c723644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6e8f2e601a48e9" /><Relationship Type="http://schemas.openxmlformats.org/officeDocument/2006/relationships/notesMaster" Target="/ppt/notesMasters/notesMaster1.xml" Id="Rec65cc9a43514a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af86e97f1f4c38" /><Relationship Type="http://schemas.openxmlformats.org/officeDocument/2006/relationships/notesMaster" Target="/ppt/notesMasters/notesMaster1.xml" Id="R57171ff343e248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344d90e5954423" /><Relationship Type="http://schemas.openxmlformats.org/officeDocument/2006/relationships/notesMaster" Target="/ppt/notesMasters/notesMaster1.xml" Id="Rf93858236c714b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e2a8fb2fc4449d" /><Relationship Type="http://schemas.openxmlformats.org/officeDocument/2006/relationships/notesMaster" Target="/ppt/notesMasters/notesMaster1.xml" Id="Re25062a56e5246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24e328b13a483b" /><Relationship Type="http://schemas.openxmlformats.org/officeDocument/2006/relationships/notesMaster" Target="/ppt/notesMasters/notesMaster1.xml" Id="Rc9cdc214608241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247a11e15a4752" /><Relationship Type="http://schemas.openxmlformats.org/officeDocument/2006/relationships/notesMaster" Target="/ppt/notesMasters/notesMaster1.xml" Id="Rcd423d2790e64e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6d270b95c74045" /><Relationship Type="http://schemas.openxmlformats.org/officeDocument/2006/relationships/notesMaster" Target="/ppt/notesMasters/notesMaster1.xml" Id="R045fbfafd38d45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44228c52a94c49" /><Relationship Type="http://schemas.openxmlformats.org/officeDocument/2006/relationships/notesMaster" Target="/ppt/notesMasters/notesMaster1.xml" Id="R55b378f377b146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6db00685ec48e1" /><Relationship Type="http://schemas.openxmlformats.org/officeDocument/2006/relationships/notesMaster" Target="/ppt/notesMasters/notesMaster1.xml" Id="Rb2a8b9bb69eb48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a02be3a8c34c53" /><Relationship Type="http://schemas.openxmlformats.org/officeDocument/2006/relationships/notesMaster" Target="/ppt/notesMasters/notesMaster1.xml" Id="R7af343bd2c004c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dc7abcfc6a44f1" /><Relationship Type="http://schemas.openxmlformats.org/officeDocument/2006/relationships/notesMaster" Target="/ppt/notesMasters/notesMaster1.xml" Id="Ra89c99e123564d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e0b822ca9e404d" /><Relationship Type="http://schemas.openxmlformats.org/officeDocument/2006/relationships/notesMaster" Target="/ppt/notesMasters/notesMaster1.xml" Id="Rd58b12af65bd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开场先讲闭环范围，再讲功能。维修闭环止于报价选择与模拟支付。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E:\yuxiaoman\Yuxiaoman-MVP-macOS\.runtime\annual-demo-media\artifacts\native-annual-final-verified9-20260830\self-drive-01-home-entry.png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E:\yuxiaoman\Yuxiaoman-MVP-macOS\.runtime\annual-demo-media\artifacts\native-annual-final-verified9-20260830\valet-13a-fault-recorded-with-photo.png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这一页用于回答老板最关心的问题：流程到底闭在哪里、哪些已被点击证据证明。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E:\yuxiaoman\Yuxiaoman-MVP-macOS\.runtime\annual-demo-media\artifacts\native-annual-final-verified9-20260830\run-summary.json</a:t>
            </a:r>
          </a:p>
          <a:p xmlns:a="http://schemas.openxmlformats.org/drawingml/2006/main">
            <a:r>
              <a:t>- E:\yuxiaoman\Yuxiaoman-MVP-macOS\.runtime\annual-demo-media\artifacts\native-repair-final-verified9-20260830\run-summary.json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强调素材真实性与合规边界。result.local.json 仅作配置依据，不在页面中展示其内容。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E:\yuxiaoman\Yuxiaoman-MVP-macOS\.runtime\annual-demo-media\runs\2026-08-29T17-52-45-661Z-6064\prepared\self-drive\frontLeft.jpg</a:t>
            </a:r>
          </a:p>
          <a:p xmlns:a="http://schemas.openxmlformats.org/drawingml/2006/main">
            <a:r>
              <a:t>- E:\yuxiaoman\Yuxiaoman-MVP-macOS\.runtime\annual-demo-media\runs\2026-08-29T17-52-45-661Z-6064\prepared\valet\frontLeft.jpg</a:t>
            </a:r>
          </a:p>
          <a:p xmlns:a="http://schemas.openxmlformats.org/drawingml/2006/main">
            <a:r>
              <a:t>- E:\yuxiaoman\Yuxiaoman-MVP-macOS\.runtime\annual-demo-media\result.local.json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用角色而不是技术模块讲解系统，便于非技术听众理解职责分工。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E:\yuxiaoman\Yuxiaoman-MVP-macOS\server\app.ts</a:t>
            </a:r>
          </a:p>
          <a:p xmlns:a="http://schemas.openxmlformats.org/drawingml/2006/main">
            <a:r>
              <a:t>- E:\yuxiaoman\Yuxiaoman-MVP-macOS\wechat-miniprogram\miniprogram\app.json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演示时先从首页进入自驾，再返回首页进入代驾；报告入口留到结果发布后展示。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E:\yuxiaoman\Yuxiaoman-MVP-macOS\.runtime\annual-demo-media\artifacts\native-annual-final-verified9-20260830\self-drive-01-home-entry.png</a:t>
            </a:r>
          </a:p>
          <a:p xmlns:a="http://schemas.openxmlformats.org/drawingml/2006/main">
            <a:r>
              <a:t>- E:\yuxiaoman\Yuxiaoman-MVP-macOS\wechat-miniprogram\miniprogram\pages\home\home.ts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演示操作：先选择检测站与时段，再逐张上传 7 份资料并核对缩略图均保留；提交预约后展示 ¥260 待支付和支付后自动确认。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E:\yuxiaoman\Yuxiaoman-MVP-macOS\.runtime\annual-demo-media\artifacts\native-annual-final-verified9-20260830\self-drive-02-station-picker.png</a:t>
            </a:r>
          </a:p>
          <a:p xmlns:a="http://schemas.openxmlformats.org/drawingml/2006/main">
            <a:r>
              <a:t>- E:\yuxiaoman\Yuxiaoman-MVP-macOS\.runtime\annual-demo-media\artifacts\native-annual-final-verified9-20260830\self-drive-05-all-uploads-retained.png</a:t>
            </a:r>
          </a:p>
          <a:p xmlns:a="http://schemas.openxmlformats.org/drawingml/2006/main">
            <a:r>
              <a:t>- E:\yuxiaoman\Yuxiaoman-MVP-macOS\.runtime\annual-demo-media\artifacts\native-annual-final-verified9-20260830\self-drive-06-order-pending-payment.png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重点解释：车身状态确认与年检结论不是同一个判断维度。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E:\yuxiaoman\Yuxiaoman-MVP-macOS\.runtime\annual-demo-media\artifacts\native-annual-final-verified9-20260830\self-drive-08-station-inspecting.png</a:t>
            </a:r>
          </a:p>
          <a:p xmlns:a="http://schemas.openxmlformats.org/drawingml/2006/main">
            <a:r>
              <a:t>- E:\yuxiaoman\Yuxiaoman-MVP-macOS\.runtime\annual-demo-media\artifacts\native-annual-final-verified9-20260830\self-drive-13-checkup-ready-to-publish.png</a:t>
            </a:r>
          </a:p>
          <a:p xmlns:a="http://schemas.openxmlformats.org/drawingml/2006/main">
            <a:r>
              <a:t>- E:\yuxiaoman\Yuxiaoman-MVP-macOS\.runtime\annual-demo-media\artifacts\native-annual-final-verified9-20260830\self-drive-17-owner-report-modal.png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演示操作：从首页点击“代驾验车”，完成取车地址、检测站与时段选择；上传行驶证主页和副页后点击“提交预约”，最后在订单页点击“本地模拟支付”。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E:\yuxiaoman\Yuxiaoman-MVP-macOS\.runtime\annual-demo-media\artifacts\native-annual-final-verified9-20260830\valet-02-station-picker.png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E:\yuxiaoman\Yuxiaoman-MVP-macOS\.runtime\annual-demo-media\artifacts\native-annual-final-verified9-20260830\valet-05-all-uploads-retained.png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E:\yuxiaoman\Yuxiaoman-MVP-macOS\.runtime\annual-demo-media\artifacts\native-annual-final-verified9-20260830\valet-06-order-pending-payment.png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演示操作：进入“工作人员入口”，点击“代驾端”；在代驾端输入后台生成的 6 位任务验证码并点击“验证并进入任务”；登录后核对只显示当前订单，再拍满 5 张并点击“提交取车留证并推进”。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E:\yuxiaoman\Yuxiaoman-MVP-macOS\deliverables\deck-work\driver-entry-evidence-20260830\driver-entry-01-switch-to-driver.png</a:t>
            </a:r>
          </a:p>
          <a:p xmlns:a="http://schemas.openxmlformats.org/drawingml/2006/main">
            <a:r>
              <a:t>- E:\yuxiaoman\Yuxiaoman-MVP-macOS\deliverables\deck-work\driver-entry-evidence-20260830\driver-entry-02-code-login.png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E:\yuxiaoman\Yuxiaoman-MVP-macOS\.runtime\annual-demo-media\artifacts\native-annual-final-verified9-20260830\valet-09-driver-pickup-five-photos-ready.png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E:\yuxiaoman\Yuxiaoman-MVP-macOS\.runtime\annual-demo-media\artifacts\native-annual-final-verified9-20260830\valet-09-driver-pickup-submitted.png</a:t>
            </a:r>
          </a:p>
          <a:p xmlns:a="http://schemas.openxmlformats.org/drawingml/2006/main">
            <a:r>
              <a:t>- E:\yuxiaoman\Yuxiaoman-MVP-macOS\wechat-miniprogram\miniprogram\packages\operator\pages\staff-entry\staff-entry.ts</a:t>
            </a:r>
          </a:p>
          <a:p xmlns:a="http://schemas.openxmlformats.org/drawingml/2006/main">
            <a:r>
              <a:t>- E:\yuxiaoman\Yuxiaoman-MVP-macOS\wechat-miniprogram\miniprogram\packages\driver\pages\login\login.ts</a:t>
            </a:r>
          </a:p>
          <a:p xmlns:a="http://schemas.openxmlformats.org/drawingml/2006/main">
            <a:r>
              <a:t>- E:\yuxiaoman\Yuxiaoman-MVP-macOS\wechat-miniprogram\miniprogram\packages\driver\pages\task\task.ts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演示操作：四个责任节点都先拍满 5 张再推进；检测完成阶段复用体检报告中的 5 张现场照片。每次提交会同步记录照片包、操作角色、服务端时间和订单状态。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E:\yuxiaoman\Yuxiaoman-MVP-macOS\.runtime\annual-demo-media\artifacts\native-annual-final-verified9-20260830\valet-09-driver-pickup-submitted.png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E:\yuxiaoman\Yuxiaoman-MVP-macOS\.runtime\annual-demo-media\artifacts\native-annual-final-verified9-20260830\valet-12-station-arrival-and-inspecting.png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E:\yuxiaoman\Yuxiaoman-MVP-macOS\.runtime\annual-demo-media\artifacts\native-annual-final-verified9-20260830\valet-14-report-published.png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E:\yuxiaoman\Yuxiaoman-MVP-macOS\.runtime\annual-demo-media\artifacts\native-annual-final-verified9-20260830\valet-15-driver-return-submitted.png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演示操作：检测站点击车辆示意图中的右后翼子板，选择“剐蹭”和“轻微”，填写说明并上传近照；报告发布后，车主在报告弹窗核对年检结论与故障记录。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E:\yuxiaoman\Yuxiaoman-MVP-macOS\.runtime\annual-demo-media\artifacts\native-annual-final-verified9-20260830\valet-13a-fault-recorded-with-photo.png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E:\yuxiaoman\Yuxiaoman-MVP-macOS\.runtime\annual-demo-media\artifacts\native-annual-final-verified9-20260830\valet-17-owner-report-modal.png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演示操作：客户在订单详情滚动到“履约留证”，点击任一照片查看弹窗；再点击“查看检测报告与留证”打开报告。后台打开同一订单详情，依次核对状态时间轴、4/4 留证阶段和每阶段 5/5 照片。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E:\yuxiaoman\Yuxiaoman-MVP-macOS\.runtime\annual-demo-media\artifacts\native-annual-final-verified9-20260830\valet-16-owner-evidence-modal.png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E:\yuxiaoman\Yuxiaoman-MVP-macOS\.runtime\annual-demo-media\artifacts\native-annual-final-verified9-20260830\valet-17-owner-report-modal.png</a:t>
            </a:r>
          </a:p>
          <a:p xmlns:a="http://schemas.openxmlformats.org/drawingml/2006/main">
            <a:r>
              <a:t>- E:\yuxiaoman\Yuxiaoman-MVP-macOS\.runtime\annual-demo-media\artifacts\native-annual-final-verified9-20260830\valet-18-admin-final-detail.png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演示操作：从已发布报告点击“一键咨询维修报价”，核对自动导入的故障位置、说明和近照；勾选“同意共享上述维修询价资料”，再点击“发布维修询价”。报价前门店只能看到授权的脱敏资料。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E:\yuxiaoman\Yuxiaoman-MVP-macOS\.runtime\annual-demo-media\artifacts\native-repair-final-verified9-20260830\01-owner-report-repair-entry.png</a:t>
            </a:r>
          </a:p>
          <a:p xmlns:a="http://schemas.openxmlformats.org/drawingml/2006/main">
            <a:r>
              <a:t>- E:\yuxiaoman\Yuxiaoman-MVP-macOS\.runtime\annual-demo-media\artifacts\native-repair-final-verified9-20260830\02-owner-confirm-imported-faults.png</a:t>
            </a:r>
          </a:p>
          <a:p xmlns:a="http://schemas.openxmlformats.org/drawingml/2006/main">
            <a:r>
              <a:t>- E:\yuxiaoman\Yuxiaoman-MVP-macOS\.runtime\annual-demo-media\artifacts\native-repair-final-verified9-20260830\03-owner-consent-ready.png</a:t>
            </a:r>
          </a:p>
          <a:p xmlns:a="http://schemas.openxmlformats.org/drawingml/2006/main">
            <a:r>
              <a:t>- E:\yuxiaoman\Yuxiaoman-MVP-macOS\.runtime\annual-demo-media\artifacts\native-repair-final-verified9-20260830\04-owner-request-waiting-quotes.png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演示操作：三家门店分别打开同一条授权需求，点击“立即报价”，填写项目、金额和说明后点击“提交报价 ¥金额”；回到车主端点击“刷新报价”，确认出现三份互相隔离的报价。进入比较页时三份报价均未勾选，系统不替车主自动选择最低价。现场内测演示可展示测试门店账号，以便切换角色完成报价流程。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E:\yuxiaoman\Yuxiaoman-MVP-macOS\.runtime\annual-demo-media\artifacts\native-repair-final-verified9-20260830\09-shop-1-quote-submitted.png</a:t>
            </a:r>
          </a:p>
          <a:p xmlns:a="http://schemas.openxmlformats.org/drawingml/2006/main">
            <a:r>
              <a:t>- E:\yuxiaoman\Yuxiaoman-MVP-macOS\.runtime\annual-demo-media\artifacts\native-repair-final-verified9-20260830\13-shop-2-quote-submitted.png</a:t>
            </a:r>
          </a:p>
          <a:p xmlns:a="http://schemas.openxmlformats.org/drawingml/2006/main">
            <a:r>
              <a:t>- E:\yuxiaoman\Yuxiaoman-MVP-macOS\.runtime\annual-demo-media\artifacts\native-repair-final-verified9-20260830\17-shop-3-quote-submitted.png</a:t>
            </a:r>
          </a:p>
          <a:p xmlns:a="http://schemas.openxmlformats.org/drawingml/2006/main">
            <a:r>
              <a:t>- E:\yuxiaoman\Yuxiaoman-MVP-macOS\.runtime\annual-demo-media\artifacts\native-repair-final-verified9-20260830\17-owner-request-three-quotes.png</a:t>
            </a:r>
          </a:p>
          <a:p xmlns:a="http://schemas.openxmlformats.org/drawingml/2006/main">
            <a:r>
              <a:t>- E:\yuxiaoman\Yuxiaoman-MVP-macOS\.runtime\annual-demo-media\artifacts\native-repair-final-verified9-20260830\18-owner-quotes-price-sorted.png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演示操作：车主在三份报价中主动选择门店 B，点击“确认模拟支付 ¥1,980”，随后点击“查看成交回执”；切换到三家门店端核对只有中选门店可见联系人，两家未中选门店都保持锁定。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E:\yuxiaoman\Yuxiaoman-MVP-macOS\.runtime\annual-demo-media\artifacts\native-repair-final-verified9-20260830\19-owner-explicit-quote-selection.png</a:t>
            </a:r>
          </a:p>
          <a:p xmlns:a="http://schemas.openxmlformats.org/drawingml/2006/main">
            <a:r>
              <a:t>- E:\yuxiaoman\Yuxiaoman-MVP-macOS\.runtime\annual-demo-media\artifacts\native-repair-final-verified9-20260830\20-owner-paid-receipt.png</a:t>
            </a:r>
          </a:p>
          <a:p xmlns:a="http://schemas.openxmlformats.org/drawingml/2006/main">
            <a:r>
              <a:t>- E:\yuxiaoman\Yuxiaoman-MVP-macOS\.runtime\annual-demo-media\artifacts\native-repair-final-verified9-20260830\24-winning-shop-deal.png</a:t>
            </a:r>
          </a:p>
          <a:p xmlns:a="http://schemas.openxmlformats.org/drawingml/2006/main">
            <a:r>
              <a:t>- E:\yuxiaoman\Yuxiaoman-MVP-macOS\.runtime\annual-demo-media\artifacts\native-repair-final-verified9-20260830\26-losing-shop-1-contact-locked.png</a:t>
            </a:r>
          </a:p>
          <a:p xmlns:a="http://schemas.openxmlformats.org/drawingml/2006/main">
            <a:r>
              <a:t>- E:\yuxiaoman\Yuxiaoman-MVP-macOS\.runtime\annual-demo-media\artifacts\native-repair-final-verified9-20260830\28-losing-shop-2-contact-locked.png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结束时主动说明真实生产边界，避免把本地演示能力包装成已正式上线能力。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E:\yuxiaoman\Yuxiaoman-MVP-macOS\.runtime\annual-demo-media\artifacts\native-annual-final-verified9-20260830\run-summary.json</a:t>
            </a:r>
          </a:p>
          <a:p xmlns:a="http://schemas.openxmlformats.org/drawingml/2006/main">
            <a:r>
              <a:t>- E:\yuxiaoman\Yuxiaoman-MVP-macOS\.runtime\annual-demo-media\artifacts\native-repair-final-verified9-20260830\run-summary.json</a:t>
            </a:r>
          </a:p>
          <a:p xmlns:a="http://schemas.openxmlformats.org/drawingml/2006/main">
            <a:r>
              <a:t>- E:\yuxiaoman\Yuxiaoman-MVP-macOS\README.md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94de5164a49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3a642e49204ec1" /><Relationship Type="http://schemas.openxmlformats.org/officeDocument/2006/relationships/slideLayout" Target="/ppt/slideLayouts/slideLayout1.xml" Id="Ra30049cd047c42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0049cd047c42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def738f4a432b" /><Relationship Type="http://schemas.openxmlformats.org/officeDocument/2006/relationships/image" Target="/ppt/media/image.png" Id="R619ac1e292bf47b2" /><Relationship Type="http://schemas.openxmlformats.org/officeDocument/2006/relationships/image" Target="/ppt/media/image2.png" Id="R955ca5248f3f428c" /><Relationship Type="http://schemas.openxmlformats.org/officeDocument/2006/relationships/notesSlide" Target="/ppt/notesSlides/notesSlide1.xml" Id="Re1ddd25de9394b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a5ec3b5f6435b" /><Relationship Type="http://schemas.openxmlformats.org/officeDocument/2006/relationships/notesSlide" Target="/ppt/notesSlides/notesSlide2.xml" Id="Rddf55b7c84bf44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f4589b3a343b4" /><Relationship Type="http://schemas.openxmlformats.org/officeDocument/2006/relationships/image" Target="/ppt/media/image.jpeg" Id="R406ffc40505d4d34" /><Relationship Type="http://schemas.openxmlformats.org/officeDocument/2006/relationships/image" Target="/ppt/media/image2.jpeg" Id="Rabb4f0026d574587" /><Relationship Type="http://schemas.openxmlformats.org/officeDocument/2006/relationships/notesSlide" Target="/ppt/notesSlides/notesSlide3.xml" Id="R6ffa9d12d3f748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c0811330c4ec0" /><Relationship Type="http://schemas.openxmlformats.org/officeDocument/2006/relationships/notesSlide" Target="/ppt/notesSlides/notesSlide4.xml" Id="R69943eedc7244b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1fc87ef95440f" /><Relationship Type="http://schemas.openxmlformats.org/officeDocument/2006/relationships/image" Target="/ppt/media/image3.png" Id="Re1a76ca2ff974dce" /><Relationship Type="http://schemas.openxmlformats.org/officeDocument/2006/relationships/notesSlide" Target="/ppt/notesSlides/notesSlide5.xml" Id="R9911f98af38e4c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60e1131e34c35" /><Relationship Type="http://schemas.openxmlformats.org/officeDocument/2006/relationships/image" Target="/ppt/media/image4.png" Id="Ra0151bcd42c3419f" /><Relationship Type="http://schemas.openxmlformats.org/officeDocument/2006/relationships/image" Target="/ppt/media/image5.png" Id="Rcf29fcc4687e4295" /><Relationship Type="http://schemas.openxmlformats.org/officeDocument/2006/relationships/image" Target="/ppt/media/image6.png" Id="R9a8623ee489e4593" /><Relationship Type="http://schemas.openxmlformats.org/officeDocument/2006/relationships/notesSlide" Target="/ppt/notesSlides/notesSlide6.xml" Id="Rbed16dc440c549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e74240a734041" /><Relationship Type="http://schemas.openxmlformats.org/officeDocument/2006/relationships/image" Target="/ppt/media/image7.png" Id="R57879779be624b24" /><Relationship Type="http://schemas.openxmlformats.org/officeDocument/2006/relationships/image" Target="/ppt/media/image8.png" Id="R372dd705a46146f2" /><Relationship Type="http://schemas.openxmlformats.org/officeDocument/2006/relationships/image" Target="/ppt/media/image9.png" Id="R45d289c70f214674" /><Relationship Type="http://schemas.openxmlformats.org/officeDocument/2006/relationships/notesSlide" Target="/ppt/notesSlides/notesSlide7.xml" Id="Rd44ab904c2634d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e09d786984771" /><Relationship Type="http://schemas.openxmlformats.org/officeDocument/2006/relationships/image" Target="/ppt/media/image10.png" Id="R7762b96714454178" /><Relationship Type="http://schemas.openxmlformats.org/officeDocument/2006/relationships/image" Target="/ppt/media/image11.png" Id="R20e88238c9d646b5" /><Relationship Type="http://schemas.openxmlformats.org/officeDocument/2006/relationships/image" Target="/ppt/media/image12.png" Id="Rd44e174cda1a4a05" /><Relationship Type="http://schemas.openxmlformats.org/officeDocument/2006/relationships/notesSlide" Target="/ppt/notesSlides/notesSlide8.xml" Id="R70b5e7e09c874f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e8971792140f6" /><Relationship Type="http://schemas.openxmlformats.org/officeDocument/2006/relationships/image" Target="/ppt/media/image13.png" Id="Rec0957683d994ebe" /><Relationship Type="http://schemas.openxmlformats.org/officeDocument/2006/relationships/image" Target="/ppt/media/image14.png" Id="R5a6fe6ba2a174d96" /><Relationship Type="http://schemas.openxmlformats.org/officeDocument/2006/relationships/image" Target="/ppt/media/image15.png" Id="Rb7665b1e97f74c81" /><Relationship Type="http://schemas.openxmlformats.org/officeDocument/2006/relationships/image" Target="/ppt/media/image16.png" Id="R5edda40e2e4b41cf" /><Relationship Type="http://schemas.openxmlformats.org/officeDocument/2006/relationships/notesSlide" Target="/ppt/notesSlides/notesSlide9.xml" Id="R8fc382b42ce540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d5a6d1c154aa6" /><Relationship Type="http://schemas.openxmlformats.org/officeDocument/2006/relationships/image" Target="/ppt/media/image17.png" Id="Refd923819e884492" /><Relationship Type="http://schemas.openxmlformats.org/officeDocument/2006/relationships/image" Target="/ppt/media/image18.png" Id="R640e24a06d70438f" /><Relationship Type="http://schemas.openxmlformats.org/officeDocument/2006/relationships/image" Target="/ppt/media/image19.png" Id="R6d4159d61e714f9c" /><Relationship Type="http://schemas.openxmlformats.org/officeDocument/2006/relationships/image" Target="/ppt/media/image20.png" Id="Rd22967eda2b746de" /><Relationship Type="http://schemas.openxmlformats.org/officeDocument/2006/relationships/notesSlide" Target="/ppt/notesSlides/notesSlide10.xml" Id="R156f90268f9446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2c2da0a9047f7" /><Relationship Type="http://schemas.openxmlformats.org/officeDocument/2006/relationships/image" Target="/ppt/media/image21.png" Id="R0e8f64b0fb3b4d6d" /><Relationship Type="http://schemas.openxmlformats.org/officeDocument/2006/relationships/image" Target="/ppt/media/image22.png" Id="R85fb353c979a46c2" /><Relationship Type="http://schemas.openxmlformats.org/officeDocument/2006/relationships/notesSlide" Target="/ppt/notesSlides/notesSlide11.xml" Id="R8da54fcc30f349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5269ea1c44394" /><Relationship Type="http://schemas.openxmlformats.org/officeDocument/2006/relationships/image" Target="/ppt/media/image23.png" Id="Rc3d32518e3dc45a2" /><Relationship Type="http://schemas.openxmlformats.org/officeDocument/2006/relationships/image" Target="/ppt/media/image24.png" Id="R2c89b19a141e4f69" /><Relationship Type="http://schemas.openxmlformats.org/officeDocument/2006/relationships/image" Target="/ppt/media/image25.png" Id="R39b49467e4944fb8" /><Relationship Type="http://schemas.openxmlformats.org/officeDocument/2006/relationships/notesSlide" Target="/ppt/notesSlides/notesSlide12.xml" Id="Re29f9d08b4de4d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1af9e08e24620" /><Relationship Type="http://schemas.openxmlformats.org/officeDocument/2006/relationships/image" Target="/ppt/media/image26.png" Id="R3aa86a4d47944115" /><Relationship Type="http://schemas.openxmlformats.org/officeDocument/2006/relationships/image" Target="/ppt/media/image27.png" Id="R93e61115c41b4f17" /><Relationship Type="http://schemas.openxmlformats.org/officeDocument/2006/relationships/image" Target="/ppt/media/image28.png" Id="R0cc07c0d0e004d56" /><Relationship Type="http://schemas.openxmlformats.org/officeDocument/2006/relationships/image" Target="/ppt/media/image29.png" Id="R22b056b60d3b4ce0" /><Relationship Type="http://schemas.openxmlformats.org/officeDocument/2006/relationships/notesSlide" Target="/ppt/notesSlides/notesSlide13.xml" Id="Rd643b2304ef843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8c3d6ee964407" /><Relationship Type="http://schemas.openxmlformats.org/officeDocument/2006/relationships/image" Target="/ppt/media/image30.png" Id="R45140edbf4ee4f1e" /><Relationship Type="http://schemas.openxmlformats.org/officeDocument/2006/relationships/image" Target="/ppt/media/image31.png" Id="R27ef967f91ba4559" /><Relationship Type="http://schemas.openxmlformats.org/officeDocument/2006/relationships/image" Target="/ppt/media/image32.png" Id="R72113c9d2fb64274" /><Relationship Type="http://schemas.openxmlformats.org/officeDocument/2006/relationships/image" Target="/ppt/media/image33.png" Id="Rd982670cc9374896" /><Relationship Type="http://schemas.openxmlformats.org/officeDocument/2006/relationships/notesSlide" Target="/ppt/notesSlides/notesSlide14.xml" Id="Re0d1d523af2b40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6173463474bb6" /><Relationship Type="http://schemas.openxmlformats.org/officeDocument/2006/relationships/image" Target="/ppt/media/image34.png" Id="R0afa4b80bdb247b0" /><Relationship Type="http://schemas.openxmlformats.org/officeDocument/2006/relationships/image" Target="/ppt/media/image35.png" Id="R436dd158340746bd" /><Relationship Type="http://schemas.openxmlformats.org/officeDocument/2006/relationships/image" Target="/ppt/media/image36.png" Id="R13190e9425be435a" /><Relationship Type="http://schemas.openxmlformats.org/officeDocument/2006/relationships/image" Target="/ppt/media/image37.png" Id="R41f31dca957a49e0" /><Relationship Type="http://schemas.openxmlformats.org/officeDocument/2006/relationships/notesSlide" Target="/ppt/notesSlides/notesSlide15.xml" Id="R1797fefce31445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fca42f4094709" /><Relationship Type="http://schemas.openxmlformats.org/officeDocument/2006/relationships/notesSlide" Target="/ppt/notesSlides/notesSlide16.xml" Id="R40eccdc7c76d46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1EA30-7507-4A79-A6A4-F21A2E91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8E81D-F27B-452E-BFE5-C2ECD216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C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3C6FF"/>
                </a:solidFill>
                <a:latin typeface="Microsoft YaHei"/>
                <a:ea typeface="Microsoft YaHei"/>
                <a:cs typeface="Microsoft YaHei"/>
              </a:rPr>
              <a:t>YUXIAOMAN · BUSINESS 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8D6C3-A77C-4959-89FA-7F89BAE7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143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驭小满年检与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维修报价业务闭环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F8AAD-E220-4243-A5C7-C34EE8EC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E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7E4F8"/>
                </a:solidFill>
                <a:latin typeface="Microsoft YaHei"/>
                <a:ea typeface="Microsoft YaHei"/>
                <a:cs typeface="Microsoft YaHei"/>
              </a:rPr>
              <a:t>原生点击回归 · 操作手册 · 项目价值说明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97362-A1CE-420B-AD07-EBD21484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6A94"/>
          </a:solidFill>
          <a:ln xmlns:a="http://schemas.openxmlformats.org/drawingml/2006/main" w="0">
            <a:solidFill>
              <a:srgbClr val="246A9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30DBB-7780-4E7B-9EA2-0BDCB00F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自驾验车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6E7FE-9460-4B8D-BB01-178F776A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6A94"/>
          </a:solidFill>
          <a:ln xmlns:a="http://schemas.openxmlformats.org/drawingml/2006/main" w="0">
            <a:solidFill>
              <a:srgbClr val="246A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BEBE6-2B02-429C-A7D0-962ADC59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766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代驾留证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6EE08-4D29-4ECB-8D1A-B55D94DF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6A94"/>
          </a:solidFill>
          <a:ln xmlns:a="http://schemas.openxmlformats.org/drawingml/2006/main" w="0">
            <a:solidFill>
              <a:srgbClr val="246A9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4A5A2-4FDA-406B-B6F8-C7694179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766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车辆报告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0D94A-C6D0-475F-A14E-A3801453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1950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6A94"/>
          </a:solidFill>
          <a:ln xmlns:a="http://schemas.openxmlformats.org/drawingml/2006/main" w="0">
            <a:solidFill>
              <a:srgbClr val="246A9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2B04B-FE1C-40C8-8394-665DEB22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多维修店报价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459AD-591B-41DF-A927-4412A397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E8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E8CD"/>
                </a:solidFill>
                <a:latin typeface="Microsoft YaHei"/>
                <a:ea typeface="Microsoft YaHei"/>
                <a:cs typeface="Microsoft YaHei"/>
              </a:rPr>
              <a:t>年检点击回归：已通过   ·   维修报价点击回归：已通过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6638A-D8BB-4D14-8422-F7CBD430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"/>
            <a:ext cx="2457450" cy="58102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ac1e292bf47b2"/>
          <a:stretch xmlns:a="http://schemas.openxmlformats.org/drawingml/2006/main"/>
        </p:blipFill>
        <p:spPr>
          <a:xfrm xmlns:a="http://schemas.openxmlformats.org/drawingml/2006/main">
            <a:off x="6381750" y="889000"/>
            <a:ext cx="2305050" cy="4984750"/>
          </a:xfrm>
          <a:prstGeom xmlns:a="http://schemas.openxmlformats.org/drawingml/2006/main" prst="roundRect">
            <a:avLst>
              <a:gd name="adj" fmla="val 4959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A28B3-9085-4764-9838-10BA97CB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889000"/>
            <a:ext cx="2228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6EB38-CDBB-435B-992E-2ECB4234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9175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车主端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3FE37-1BBA-4B17-9730-C30FE40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6250"/>
            <a:ext cx="2590800" cy="5810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ca5248f3f428c"/>
          <a:stretch xmlns:a="http://schemas.openxmlformats.org/drawingml/2006/main"/>
        </p:blipFill>
        <p:spPr>
          <a:xfrm xmlns:a="http://schemas.openxmlformats.org/drawingml/2006/main">
            <a:off x="9067800" y="744813"/>
            <a:ext cx="2438400" cy="5273124"/>
          </a:xfrm>
          <a:prstGeom xmlns:a="http://schemas.openxmlformats.org/drawingml/2006/main" prst="roundRect">
            <a:avLst>
              <a:gd name="adj" fmla="val 4688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7E62A-FE71-4A8C-B1C7-6B7742D0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44813"/>
            <a:ext cx="2362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38D38-D9D6-40C2-A3C6-8FF6935C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773388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检测站端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BC52D-5C3A-4F32-8841-73F8CC47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A9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A9C2"/>
                </a:solidFill>
                <a:latin typeface="Microsoft YaHei"/>
                <a:ea typeface="Microsoft YaHei"/>
                <a:cs typeface="Microsoft YaHei"/>
              </a:rPr>
              <a:t>本地演示环境 · 2026.08</a:t>
            </a:r>
          </a:p>
        </p:txBody>
      </p:sp>
    </p:spTree>
    <p:extLst>
      <p:ext uri="{BB962C8B-B14F-4D97-AF65-F5344CB8AC3E}">
        <p14:creationId xmlns:p14="http://schemas.microsoft.com/office/powerpoint/2010/main" val="292974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9328AE-77CD-41F4-B5C2-440817FF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844E0-87CB-4A89-87CE-92F75461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01 /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D274D-31C4-4EFC-998F-D27FAB08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闭环不是“有页面”，而是每个角色都能把订单推到终态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7B531-8544-4D81-B698-D500682B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年检到报告与服务完成；维修报价到车主选店与模拟支付。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1E7ED-E89E-4A28-9347-9FA94FA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CA3D6-3364-444D-8067-821893C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571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9E666-C4FD-4E34-8A8D-1E76348E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1"/>
          </a:solidFill>
          <a:ln xmlns:a="http://schemas.openxmlformats.org/drawingml/2006/main" w="0">
            <a:solidFill>
              <a:srgbClr val="E9F7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7896F-1BEF-42A7-AEDD-73DFFA75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18011-41FA-4AE8-9414-7788A3AB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2 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F4976-FD7B-4C1B-852B-813CF5AC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自驾 + 代驾原生点击路径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12D80-6891-4A96-925D-ADEB7163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2571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C00FE-CEDF-46E0-97C3-C377846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E"/>
          </a:solidFill>
          <a:ln xmlns:a="http://schemas.openxmlformats.org/drawingml/2006/main" w="0">
            <a:solidFill>
              <a:srgbClr val="EAF4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422C7-6306-4EE3-AE31-44CD6491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8E0FE-C3D7-40CC-8774-8FD436BB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4 ×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55A13-E7EE-40D6-B1F4-DA85C3E8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52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代驾四阶段留证包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C5FAA-EE3F-4BA4-B788-1E5B8BCC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5950"/>
            <a:ext cx="2571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486BC-C83F-4DC5-B13D-3D1A000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1"/>
          </a:solidFill>
          <a:ln xmlns:a="http://schemas.openxmlformats.org/drawingml/2006/main" w="0">
            <a:solidFill>
              <a:srgbClr val="E9F7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538F7-AB69-4791-BDA4-E4ABC1C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CD0B9-88B7-4E87-8024-B9EEE6CB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3 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02E46C-170F-4EF6-99AE-A7FAE4A3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维修门店独立报价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B5EAC-E155-4938-A4C8-602A9BC6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571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C85DB-ADA1-4A57-BFB6-F769CD77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57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EEE"/>
          </a:solidFill>
          <a:ln xmlns:a="http://schemas.openxmlformats.org/drawingml/2006/main" w="0">
            <a:solidFill>
              <a:srgbClr val="FDEE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DB516-CD13-4BE2-935D-9917A3EC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5C1E8-46FC-4F37-92DE-F48D2214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0 元 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0EFD9-E56C-4307-9E2C-BBE5FF29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报价统计使用真实非零测试金额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02C3C-8DE5-45EB-8E29-B382A43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1445079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11592-2DEF-44E0-8C09-16643637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A071B-DA45-405B-A88B-C595EE61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17837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车主预约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08AE8F-B376-4D48-B089-34ABE6B3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29" y="3733800"/>
            <a:ext cx="1445079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2EDC4-CEA8-448F-98AE-BCC6B5CB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079" y="3867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B1D5D-18EF-4E3C-804F-C313E0CE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079" y="4133850"/>
            <a:ext cx="117837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支付确认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DBA13F-369D-4349-9D66-8F5B1C14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107" y="3733800"/>
            <a:ext cx="1445079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C98DA5-E6DC-4747-B1BA-1BEA2E61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457" y="3867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AEBE86-EE25-4B02-9D5A-E64D9E58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457" y="4133850"/>
            <a:ext cx="117837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检测履约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732D37-D84A-4952-A2AC-3044920B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486" y="3733800"/>
            <a:ext cx="1445079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24F599-B36E-4A1E-A4ED-A898181B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836" y="3867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0969CE-3134-4438-BD4F-6669C933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836" y="4133850"/>
            <a:ext cx="117837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结果发布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562D44-C4F5-4231-B0F3-F201C8E5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864" y="3733800"/>
            <a:ext cx="1445079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7049C6-1B40-42B6-A42E-B304BF4E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214" y="3867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E9255F-E7D5-4DD0-B681-438007AF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214" y="4133850"/>
            <a:ext cx="117837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报告可查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AD3096-3D25-4081-AE06-6539EFA6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243" y="3733800"/>
            <a:ext cx="1445079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04236F-624F-436C-A6DC-E28B7E93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3867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9EFBE3-9125-4D98-AC76-7BBC35AC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4133850"/>
            <a:ext cx="117837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维修询价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99429A-0940-4D74-82E2-6CA6748D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621" y="3733800"/>
            <a:ext cx="1445079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9525">
            <a:solidFill>
              <a:srgbClr val="103B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2AD50B-39F5-4294-8436-914501D7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971" y="3867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A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2A5F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F055D8-CD10-410C-9BD4-0999C422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971" y="4133850"/>
            <a:ext cx="117837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选店支付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668C7C-FD61-4082-832D-C3BAB380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0801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BDE7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84008B-9458-4B9C-98C9-3518218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1026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最终证据：两条年检路径与维修报价路径均由界面点击完成，摘要状态 passed。</a:t>
            </a:r>
          </a:p>
        </p:txBody>
      </p:sp>
    </p:spTree>
    <p:extLst>
      <p:ext uri="{BB962C8B-B14F-4D97-AF65-F5344CB8AC3E}">
        <p14:creationId xmlns:p14="http://schemas.microsoft.com/office/powerpoint/2010/main" val="805834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0164B-0664-44BA-B498-2C60B442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A1D27-6B67-4FD2-AF9C-2D18849C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02 /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5C5DB-F28F-47FE-A9B7-E99FA04B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12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测试素材边界：真实车辆照片进入流程，测试文件不伪装成正式凭证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5503C-FB61-44C3-AB8B-0648312E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两套真实车辆用于验证上传保留、留证、报告和故障照片；缺失法定材料明确标注 TEST ONLY。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A346C-6C4C-47B3-8047-F6294E5B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B672F-D2C1-4862-AEC5-FF9FBCAE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ffc40505d4d34"/>
          <a:srcRect xmlns:a="http://schemas.openxmlformats.org/drawingml/2006/main" l="0" t="22065" r="0" b="22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85950"/>
            <a:ext cx="2990850" cy="222885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71A1C-4B40-45B0-89B7-2954B5F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914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C27FD-753B-40EB-AD8B-AF133FDD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自驾车辆 · 真实素材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8B7D4-5B86-48D4-AFE6-9FFAE038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4f0026d574587"/>
          <a:srcRect xmlns:a="http://schemas.openxmlformats.org/drawingml/2006/main" l="0" t="5310" r="0" b="5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6200" y="1885950"/>
            <a:ext cx="2990850" cy="222885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C1B67-4BCD-4BDA-B7E0-E4EC1743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85950"/>
            <a:ext cx="2914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AAA41-DDF5-4927-9759-C3A9F15B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1452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代驾车辆 · 真实素材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F9298-7B35-4C5E-98CB-5B676AA2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41338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7364A-1B85-4FC0-BB2E-8BC5C94A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solidFill>
              <a:srgbClr val="E9F7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7B00B-186E-430C-AEEF-84A5DAFF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真实素材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DBD8A-FE91-4661-8300-EEC48B1F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两辆车的四角、启动后仪表盘，以及可用行驶证页面来自用户提供图片。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FC107-86E5-469A-855A-F50817F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86125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0">
            <a:solidFill>
              <a:srgbClr val="FFF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ECE24-7A90-4664-9201-6568A8DA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432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7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07B35"/>
                </a:solidFill>
                <a:latin typeface="Microsoft YaHei"/>
                <a:ea typeface="Microsoft YaHei"/>
                <a:cs typeface="Microsoft YaHei"/>
              </a:rPr>
              <a:t>TEST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8139B-0CB9-4A0C-8620-3A03A01A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766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缺失的证件副页与安全技术检验报告仅用于本地流程验证，画面带醒目标识。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0B0F9-ADDC-4E85-A032-89E5F11F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108013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9F98A-AAD2-4E59-A67A-8B65022A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2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C8FF"/>
                </a:solidFill>
                <a:latin typeface="Microsoft YaHei"/>
                <a:ea typeface="Microsoft YaHei"/>
                <a:cs typeface="Microsoft YaHei"/>
              </a:rPr>
              <a:t>对外演示原则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FFDE6-E8FE-47CB-85B2-814480B0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内测演示可展示任务验证码与测试账号；实车素材含用户授权车牌；模拟支付不拉起真实 SDK。</a:t>
            </a:r>
          </a:p>
        </p:txBody>
      </p:sp>
    </p:spTree>
    <p:extLst>
      <p:ext uri="{BB962C8B-B14F-4D97-AF65-F5344CB8AC3E}">
        <p14:creationId xmlns:p14="http://schemas.microsoft.com/office/powerpoint/2010/main" val="382534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A32FB6-F11A-4DB1-AF06-3EDA12D0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F085C-6665-4362-80E7-84E84E7E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03 /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01720-39C6-477A-87C2-0B404B77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五类角色共同推进一笔订单，后台看全局但不替一线履约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03942-166F-4405-A118-EE69F077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正常业务节点由车主、司机、检测站和维修门店分别完成；后台负责任务安排与全程查看。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BC70D-1A46-4EB3-BF51-77569B4C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E0876-3B75-4006-8E8C-0936ACA1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962150" cy="26670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5EA58-1C2E-4F2F-BBF5-BB3394CC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F2971-771E-4B11-B240-F6E37CB7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C689D-4CF5-4DEE-9BDC-FF7E9961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车主端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D11AE-4C04-4F73-A515-E4804D0E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预约、上传、模拟支付、看进度和报告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8336A-A8D2-4748-BFE1-7FD9E2A0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1962150" cy="26670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6C0BF-F78D-4291-A794-480A7C3B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9B68"/>
          </a:solidFill>
          <a:ln xmlns:a="http://schemas.openxmlformats.org/drawingml/2006/main" w="0">
            <a:solidFill>
              <a:srgbClr val="1D9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FB52B-2E16-4A7E-8CE6-21024904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2887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B42AB-F3D7-427A-A930-1D48078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19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代驾端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76C3A-7E68-4055-9303-7C56532E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验证码领单、取车和送回留证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06CA1-D6DB-47B3-865A-596FFB90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962150" cy="26670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7241A-FA8C-4456-AD83-06E068CC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B35"/>
          </a:solidFill>
          <a:ln xmlns:a="http://schemas.openxmlformats.org/drawingml/2006/main" w="0">
            <a:solidFill>
              <a:srgbClr val="F07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F97CC-D25E-416C-AE78-40BCA438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2887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40A1A-35A9-46C8-AC34-CAC95064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检测站端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00515-1CC6-4DD8-9BE1-F9265555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14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接车、检测、故障记录、发布结论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AA649-915B-4AA2-BB18-7E52CFCF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962150" cy="26670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0F55B-A293-4520-8615-1B98C1AA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77"/>
          </a:solidFill>
          <a:ln xmlns:a="http://schemas.openxmlformats.org/drawingml/2006/main" w="0">
            <a:solidFill>
              <a:srgbClr val="174F7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CB846-E9D9-4B22-B4B5-6930C52F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2887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99694-39D5-4F43-B36E-6400FC7D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运营后台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8674DE-DEBD-454C-AE6B-ACE1E602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安排司机、看状态机、证据与交易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8DA101-9B72-4BF6-9589-23584790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1962150" cy="26670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45588-C362-426B-9C0F-A7659F1E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B4B"/>
          </a:solidFill>
          <a:ln xmlns:a="http://schemas.openxmlformats.org/drawingml/2006/main" w="0">
            <a:solidFill>
              <a:srgbClr val="D94B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F93BD-8CC0-4B3E-B44F-8811DC27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2887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2BAEB-625E-4D38-A9FE-9E35C962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维修门店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33F3FC-7062-4895-B1DD-7DB3CB7A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看授权故障、提交报价、按中标开放权限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64DEE2-64E5-4F51-8BA5-FB34D801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108013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9525">
            <a:solidFill>
              <a:srgbClr val="C6DE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94683-F1A5-4521-9805-4C49B89D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26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设计原则：留证完整即可推进，不增加客户确认和异议环节阻塞业务；所有已完成节点对客户和后台只读可见。</a:t>
            </a:r>
          </a:p>
        </p:txBody>
      </p:sp>
    </p:spTree>
    <p:extLst>
      <p:ext uri="{BB962C8B-B14F-4D97-AF65-F5344CB8AC3E}">
        <p14:creationId xmlns:p14="http://schemas.microsoft.com/office/powerpoint/2010/main" val="305911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F877A-2C86-424C-905B-3E1A90D6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598FD-066A-4AE7-9073-A96D3227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04 / OWNER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A0E0E-FC73-48C3-A234-AA7910C0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首页三入口：自驾验车、代驾验车、检测报告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205FB-FCEF-41AA-BEB0-6B892CB6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预约入口直达对应检测站选择；报告入口始终进入报告中心。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CAAD9-5DBD-4C6C-B55C-7DDEB7E8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8FEBB-DA28-4DE1-A4E9-7E2D913F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028950" cy="449580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76ca2ff974dce"/>
          <a:stretch xmlns:a="http://schemas.openxmlformats.org/drawingml/2006/main"/>
        </p:blipFill>
        <p:spPr>
          <a:xfrm xmlns:a="http://schemas.openxmlformats.org/drawingml/2006/main">
            <a:off x="1024587" y="1790700"/>
            <a:ext cx="2008477" cy="4343400"/>
          </a:xfrm>
          <a:prstGeom xmlns:a="http://schemas.openxmlformats.org/drawingml/2006/main" prst="roundRect">
            <a:avLst>
              <a:gd name="adj" fmla="val 397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76B10-E32A-4303-B962-9208A83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8003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84D4A-AB15-457A-A4A1-60BD8AE4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操作 1 · 选择验车方式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89358-7788-41B6-85AF-A40640AC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14500"/>
            <a:ext cx="74676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EF146-9967-4D6D-B019-89AEED06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6819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9525">
            <a:solidFill>
              <a:srgbClr val="C5DD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26466-25C2-4F10-8D40-45A241B9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自驾验车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F8599-0820-4A59-AC12-0B88E116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自己开车到检测站 · 选择网点和时段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93ABE-EB8B-441A-96F0-9B6E2DAF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14575"/>
            <a:ext cx="2552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8AD12-ECC8-4D59-9650-B864ADDA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7172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直接建立自驾预约草稿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B6955-328B-4B7A-9CA7-08720473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6819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9525">
            <a:solidFill>
              <a:srgbClr val="C5DD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6BAB0-92BA-4882-A40B-B780D2A3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14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代驾验车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2BD6C-4E45-4A41-92CF-709C444D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上门取车，检后送回 · 按真实路线计价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78467-AD74-44E6-B100-80E900DE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38525"/>
            <a:ext cx="2552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DD3DF-444A-411B-B70E-85F74091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直接建立代驾预约草稿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11A10-FFCA-4C75-821E-A13EE0B7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67200"/>
            <a:ext cx="6819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9525">
            <a:solidFill>
              <a:srgbClr val="103B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1D77E-EFEF-460E-9638-B1ACEB43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检测报告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0B9B3-43DB-4B0B-BA87-0FAF1CEA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E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EE8FA"/>
                </a:solidFill>
                <a:latin typeface="Microsoft YaHei"/>
                <a:ea typeface="Microsoft YaHei"/>
                <a:cs typeface="Microsoft YaHei"/>
              </a:rPr>
              <a:t>年检结论 · 车辆体检记录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0FE98-79E6-4636-9062-65EC3238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62475"/>
            <a:ext cx="2552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42376-F9DE-4E8D-A1AE-DDEBC78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进入全部车辆报告中心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076A2-47FE-495C-A2D6-14949CB0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00700"/>
            <a:ext cx="681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智能分流：无车辆先添加；已有进行中订单直接打开；资格异常先核验，完成后续接原验车方式。</a:t>
            </a:r>
          </a:p>
        </p:txBody>
      </p:sp>
    </p:spTree>
    <p:extLst>
      <p:ext uri="{BB962C8B-B14F-4D97-AF65-F5344CB8AC3E}">
        <p14:creationId xmlns:p14="http://schemas.microsoft.com/office/powerpoint/2010/main" val="144599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5C385-C8D6-49E6-B9FA-66814DE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C57CB-6983-46F8-AFAC-B70EED4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05 / SELF-DRIVE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0CD63-C454-4067-BFBE-FDD8A788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自驾预约：7 张资料不会互相覆盖，支付后自动确认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81261-03AD-4745-98BB-4217FF7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四角 + 启动后仪表盘 + 行驶证主页/副页；服务端报价快照锁定 ¥260.00。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6CDB5-F136-49B9-8A19-1EF49233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39681-D87E-4D42-B1B2-0670584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2381250" cy="43434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51bcd42c3419f"/>
          <a:stretch xmlns:a="http://schemas.openxmlformats.org/drawingml/2006/main"/>
        </p:blipFill>
        <p:spPr>
          <a:xfrm xmlns:a="http://schemas.openxmlformats.org/drawingml/2006/main">
            <a:off x="735973" y="1790700"/>
            <a:ext cx="1938004" cy="41910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3A28A-2964-40EB-B0C2-D32EF0F1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152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22009-AA16-4272-BDEB-24C9F186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选站与时段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34C3B-4787-4B00-AACD-20D309F5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2381250" cy="43434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9fcc4687e4295"/>
          <a:stretch xmlns:a="http://schemas.openxmlformats.org/drawingml/2006/main"/>
        </p:blipFill>
        <p:spPr>
          <a:xfrm xmlns:a="http://schemas.openxmlformats.org/drawingml/2006/main">
            <a:off x="3288673" y="1790700"/>
            <a:ext cx="1938004" cy="41910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DD72A-0C85-4FA4-97EC-B85229F9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90700"/>
            <a:ext cx="2152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DC286-DC7A-4342-ABFD-C09B7AFB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192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7/7 上传保留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94A55-A37D-48D8-ACC5-9CEF1CB5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2381250" cy="43434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623ee489e4593"/>
          <a:stretch xmlns:a="http://schemas.openxmlformats.org/drawingml/2006/main"/>
        </p:blipFill>
        <p:spPr>
          <a:xfrm xmlns:a="http://schemas.openxmlformats.org/drawingml/2006/main">
            <a:off x="5841373" y="1790700"/>
            <a:ext cx="1938004" cy="41910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E1B03-4D7D-423B-8477-1AC24282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90700"/>
            <a:ext cx="2152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0E07E-A7C0-4C0F-8C65-A549EA57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192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¥260 待支付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C049A-FDA2-4335-A5F6-3D627FB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3105150" cy="43434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20923-5AA6-46F2-9629-49234E52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5BB9C1-55EA-4A64-AE04-0E81252C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8E338-BEA9-4B7E-ACCA-A0D44F0D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7645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选择检测站与预约时段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CD6B7-A1A1-4930-97E0-3EDEB5AE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7CAB1-F5B2-4ECA-911A-DEFF2817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98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0BC61-CA8A-4263-91D4-450720FC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432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依次上传 7 张，每次检查此前照片仍在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019DD-1AD0-4C18-8A79-4F2C979B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57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F3910-7FFA-43C3-A956-B1582327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766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86BB8-93F8-4D36-AAF6-B135C890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使用服务端 quoteSnapshotId 创建订单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9014A-38B6-45DE-A96B-F85A5F8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24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35F3D-D0A6-49D4-91EB-1E7BA3CA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433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D776AA-7729-446F-BA05-75E4654F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767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本地模拟支付，不拉起真实 SDK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CD6F5B-3DDA-4545-8932-5AFCB911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91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9889EE-0620-42EC-90E8-F203E8C6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101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838058-1D1C-4B86-89E7-1F28645E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4345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支付成功后自动进入已确认</a:t>
            </a:r>
          </a:p>
        </p:txBody>
      </p:sp>
    </p:spTree>
    <p:extLst>
      <p:ext uri="{BB962C8B-B14F-4D97-AF65-F5344CB8AC3E}">
        <p14:creationId xmlns:p14="http://schemas.microsoft.com/office/powerpoint/2010/main" val="1805992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65259-73DF-49C7-B4F7-B369C17C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84C64-C9EE-4B07-B4BF-E465283B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06 / INSPECTION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D96C2-2F66-451C-8751-529EA1EF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自驾检测：车身无明显故障，年检仍可依据检测结果判定未通过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1E284-55F2-487E-9F4C-7DA43020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结论只有“通过 / 未通过”；未通过必须填写原因与复检建议。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10E14-D892-4999-9893-D453071B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F49A9-312B-4634-956C-6F9B8851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781300" cy="42862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79779be624b24"/>
          <a:stretch xmlns:a="http://schemas.openxmlformats.org/drawingml/2006/main"/>
        </p:blipFill>
        <p:spPr>
          <a:xfrm xmlns:a="http://schemas.openxmlformats.org/drawingml/2006/main">
            <a:off x="949212" y="1809750"/>
            <a:ext cx="1911576" cy="41338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3E35E-8E81-4DEB-BF5C-7038D58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552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55063-6A3E-4F76-AE83-BB2EBAF6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检测站 · 检测中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6CA4E-3CB9-4E32-9FD4-14C1BF43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33550"/>
            <a:ext cx="2781300" cy="42862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dd705a46146f2"/>
          <a:stretch xmlns:a="http://schemas.openxmlformats.org/drawingml/2006/main"/>
        </p:blipFill>
        <p:spPr>
          <a:xfrm xmlns:a="http://schemas.openxmlformats.org/drawingml/2006/main">
            <a:off x="3901962" y="1809750"/>
            <a:ext cx="1911576" cy="41338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03B90-E2B5-436E-A24E-0282C8B6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552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F8C45-3695-4592-8C36-C128BF33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5/5 现场照片 + 未通过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0EE8E-6505-4DF7-9E47-2CAF431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2781300" cy="42862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289c70f214674"/>
          <a:stretch xmlns:a="http://schemas.openxmlformats.org/drawingml/2006/main"/>
        </p:blipFill>
        <p:spPr>
          <a:xfrm xmlns:a="http://schemas.openxmlformats.org/drawingml/2006/main">
            <a:off x="6854712" y="1809750"/>
            <a:ext cx="1911576" cy="413385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A8353-6B12-403D-942A-20D3D0C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25527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D09E0-D11A-429E-839C-F55EE975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3832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客户收到未通过报告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B98EE-89C5-4E66-B732-6A8C92A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33550"/>
            <a:ext cx="1924050" cy="42862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A5987-1BD8-4D3A-9EEA-86F1A39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19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DD0FF"/>
                </a:solidFill>
                <a:latin typeface="Microsoft YaHei"/>
                <a:ea typeface="Microsoft YaHei"/>
                <a:cs typeface="Microsoft YaHei"/>
              </a:rPr>
              <a:t>未通过示例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27A81-3969-4C55-8159-88F478AB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765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制动力检测未达到检测线阈值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3E435-64BD-4A8C-B60C-422F3137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24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D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D0FF"/>
                </a:solidFill>
                <a:latin typeface="Microsoft YaHei"/>
                <a:ea typeface="Microsoft YaHei"/>
                <a:cs typeface="Microsoft YaHei"/>
              </a:rPr>
              <a:t>复检建议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0EEB5-AF2F-4FEA-B7B9-17939B7A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8620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C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6ECF9"/>
                </a:solidFill>
                <a:latin typeface="Microsoft YaHei"/>
                <a:ea typeface="Microsoft YaHei"/>
                <a:cs typeface="Microsoft YaHei"/>
              </a:rPr>
              <a:t>检修制动系统，携检测报告完成复检。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823D6-0E37-48DA-890E-AC8B559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625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C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CCAE"/>
                </a:solidFill>
                <a:latin typeface="Microsoft YaHei"/>
                <a:ea typeface="Microsoft YaHei"/>
                <a:cs typeface="Microsoft YaHei"/>
              </a:rPr>
              <a:t>未通过时</a:t>
            </a:r>
          </a:p>
          <a:p xmlns:a="http://schemas.openxmlformats.org/drawingml/2006/main">
            <a:pPr algn="l">
              <a:defRPr sz="1050" b="1">
                <a:solidFill>
                  <a:srgbClr val="FFCC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CCAE"/>
                </a:solidFill>
                <a:latin typeface="Microsoft YaHei"/>
                <a:ea typeface="Microsoft YaHei"/>
                <a:cs typeface="Microsoft YaHei"/>
              </a:rPr>
              <a:t>不发布合格标志。</a:t>
            </a:r>
          </a:p>
        </p:txBody>
      </p:sp>
    </p:spTree>
    <p:extLst>
      <p:ext uri="{BB962C8B-B14F-4D97-AF65-F5344CB8AC3E}">
        <p14:creationId xmlns:p14="http://schemas.microsoft.com/office/powerpoint/2010/main" val="734914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56A95F-3CA0-458B-805A-EB3A47C5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DA3C1-D742-4CD6-A07B-3624D31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07 / VALET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4F0E3-2617-45FA-ADAF-21294866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代驾预约：预约只收 2 张证件，现场车况由司机取车时采集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4F41F-4992-4CC6-8D79-C56E7206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真实地址 + 路线凭证 + 服务端计价；¥260 检测费 + ¥109 取送费 = ¥369。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9A6D7-6D68-499B-AB78-FAE38B58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220C6-9FB1-4D94-8D9E-9ADC38B6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590800" cy="4286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2b96714454178"/>
          <a:stretch xmlns:a="http://schemas.openxmlformats.org/drawingml/2006/main"/>
        </p:blipFill>
        <p:spPr>
          <a:xfrm xmlns:a="http://schemas.openxmlformats.org/drawingml/2006/main">
            <a:off x="853962" y="1809750"/>
            <a:ext cx="1911576" cy="4133850"/>
          </a:xfrm>
          <a:prstGeom xmlns:a="http://schemas.openxmlformats.org/drawingml/2006/main" prst="roundRect">
            <a:avLst>
              <a:gd name="adj" fmla="val 46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0C559-C79A-41A2-953A-94AE14C2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362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D5D45-0A39-46D4-AA25-685C0016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地址与路线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649DC-9012-4700-8AF3-68375763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33550"/>
            <a:ext cx="2590800" cy="4286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88238c9d646b5"/>
          <a:stretch xmlns:a="http://schemas.openxmlformats.org/drawingml/2006/main"/>
        </p:blipFill>
        <p:spPr>
          <a:xfrm xmlns:a="http://schemas.openxmlformats.org/drawingml/2006/main">
            <a:off x="3616212" y="1809750"/>
            <a:ext cx="1911576" cy="4133850"/>
          </a:xfrm>
          <a:prstGeom xmlns:a="http://schemas.openxmlformats.org/drawingml/2006/main" prst="roundRect">
            <a:avLst>
              <a:gd name="adj" fmla="val 468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412D7-1BB3-4460-9D6B-46A9E75B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362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41656-DE35-4A57-A23B-DA209E88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383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2/2 行驶证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B9BD4-F903-4990-AB04-CE278B8B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33550"/>
            <a:ext cx="2590800" cy="4286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e174cda1a4a05"/>
          <a:stretch xmlns:a="http://schemas.openxmlformats.org/drawingml/2006/main"/>
        </p:blipFill>
        <p:spPr>
          <a:xfrm xmlns:a="http://schemas.openxmlformats.org/drawingml/2006/main">
            <a:off x="6378462" y="1809750"/>
            <a:ext cx="1911576" cy="4133850"/>
          </a:xfrm>
          <a:prstGeom xmlns:a="http://schemas.openxmlformats.org/drawingml/2006/main" prst="roundRect">
            <a:avLst>
              <a:gd name="adj" fmla="val 468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1F13B-C1A8-45D9-B476-F680D351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362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9AE2F-BD2B-4882-A676-A9A6F1C9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383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¥369 模拟支付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452A8-7A2A-422C-A217-7EC666D9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33550"/>
            <a:ext cx="2476500" cy="4286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86926-2367-4587-9BE5-2EE1E722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574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报价快照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806B-CDFF-4732-B9B8-B6E49018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年检服务费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29921-7B6A-4F23-9284-7F4F5980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0032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¥260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C7A57B-24F1-42F6-8A43-201C3CDE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路线取送费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7C1C1-AC6C-4EBB-A854-4BF9A183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3372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¥109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1456B-FB0C-4355-9FC2-C19AD267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9570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F"/>
          </a:solidFill>
          <a:ln xmlns:a="http://schemas.openxmlformats.org/drawingml/2006/main" w="0">
            <a:solidFill>
              <a:srgbClr val="D7E4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E9826-4B0C-4853-B608-C3E675D1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合计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220EAD-5B2F-4A14-B18E-C1087ADD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481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07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07B35"/>
                </a:solidFill>
                <a:latin typeface="Microsoft YaHei"/>
                <a:ea typeface="Microsoft YaHei"/>
                <a:cs typeface="Microsoft YaHei"/>
              </a:rPr>
              <a:t>¥369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5832CC-316A-4D84-AA01-EB070EE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6250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预约只传 2 张行驶证；现场车况由司机取车时拍摄。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7AAF50-A0B4-4D45-AB7F-7B886538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车主点击：代驾验车 → 取车地址 / 检测站 / 时段 → 上传 2 张行驶证 →「提交预约」→「本地模拟支付」。</a:t>
            </a:r>
          </a:p>
        </p:txBody>
      </p:sp>
    </p:spTree>
    <p:extLst>
      <p:ext uri="{BB962C8B-B14F-4D97-AF65-F5344CB8AC3E}">
        <p14:creationId xmlns:p14="http://schemas.microsoft.com/office/powerpoint/2010/main" val="2017468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42BA2-679B-4A6A-8DAD-E880FBCC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38CF0-D136-407B-931A-D6236035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08 / DRIVER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4D579-E358-492C-BFA7-DA8BF625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从工作人员入口切换代驾端，验证码登录后进入单笔任务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E3A6D-DCD7-48D0-ABC6-E9948899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四张实机截图依次展示入口、登录、取车留证和状态推进。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D8777-2D0C-4656-B20E-E9C89C43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AF1A6-5F87-44A6-BC62-A23A8224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190750" cy="42672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957683d994ebe"/>
          <a:stretch xmlns:a="http://schemas.openxmlformats.org/drawingml/2006/main"/>
        </p:blipFill>
        <p:spPr>
          <a:xfrm xmlns:a="http://schemas.openxmlformats.org/drawingml/2006/main">
            <a:off x="658341" y="1828800"/>
            <a:ext cx="1902767" cy="411480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4A58C-85E2-40A3-9B6B-8F2EE7FE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962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0360F-3837-4267-97FA-0EEFD597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切换 · 代驾端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5CF77-4A25-467D-A6CA-E784F634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2190750" cy="42672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fe6ba2a174d96"/>
          <a:stretch xmlns:a="http://schemas.openxmlformats.org/drawingml/2006/main"/>
        </p:blipFill>
        <p:spPr>
          <a:xfrm xmlns:a="http://schemas.openxmlformats.org/drawingml/2006/main">
            <a:off x="3039591" y="1828800"/>
            <a:ext cx="1902767" cy="411480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4BDEA-7D7B-48A1-8D5C-9E664D07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28800"/>
            <a:ext cx="1962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DC320-CCD6-4CC9-AF7D-A8FCD208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573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登录 · 任务码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416E5-CC76-4787-A0D8-AD0D528E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52600"/>
            <a:ext cx="2800350" cy="426720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65b1e97f74c81"/>
          <a:stretch xmlns:a="http://schemas.openxmlformats.org/drawingml/2006/main"/>
        </p:blipFill>
        <p:spPr>
          <a:xfrm xmlns:a="http://schemas.openxmlformats.org/drawingml/2006/main">
            <a:off x="5878041" y="1828800"/>
            <a:ext cx="1902767" cy="4114800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C9BA4-2B6E-42ED-855B-2201A26E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28800"/>
            <a:ext cx="2571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041FF-A1D4-4629-8AA9-D0DFDC0C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57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登录后 · 取车 5/5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F229A-02E6-4CCE-B807-BBB24FAB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800350" cy="426720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da40e2e4b41cf"/>
          <a:stretch xmlns:a="http://schemas.openxmlformats.org/drawingml/2006/main"/>
        </p:blipFill>
        <p:spPr>
          <a:xfrm xmlns:a="http://schemas.openxmlformats.org/drawingml/2006/main">
            <a:off x="8964141" y="1828800"/>
            <a:ext cx="1902767" cy="4114800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6FCE7-E18D-47A2-9860-B9220B46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28800"/>
            <a:ext cx="2571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8A5AE-77EA-475A-A443-E5C29515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57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提交后 · 已取车</a:t>
            </a:r>
          </a:p>
        </p:txBody>
      </p:sp>
    </p:spTree>
    <p:extLst>
      <p:ext uri="{BB962C8B-B14F-4D97-AF65-F5344CB8AC3E}">
        <p14:creationId xmlns:p14="http://schemas.microsoft.com/office/powerpoint/2010/main" val="11201281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4B4DB-9A9C-420B-BFB3-FDD48D6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644F4-E216-4C2F-BE54-AE380840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09 /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4BC4E-2BB5-4B9A-B00A-773ED486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代驾四阶段留证：照片完整就是推进条件，不增加确认阻塞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2A6A8-6CF7-4EB6-956C-4F3DD547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取车、到站、检测完成、送回；每阶段固定四角 + 启动后仪表盘 5 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D8441-58C6-4C7E-ABA2-0750C382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0298F-1EEE-47D2-A057-F2283819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33650" cy="369570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923819e884492"/>
          <a:stretch xmlns:a="http://schemas.openxmlformats.org/drawingml/2006/main"/>
        </p:blipFill>
        <p:spPr>
          <a:xfrm xmlns:a="http://schemas.openxmlformats.org/drawingml/2006/main">
            <a:off x="961928" y="1885950"/>
            <a:ext cx="1638494" cy="354330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54689-5625-4826-AD38-67E48416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305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66A80-4E74-49BF-850C-1D481A59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司机取车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ED21C-D77A-4E37-8548-CB69AD6D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769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solidFill>
              <a:srgbClr val="E9F7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3096E-A54C-4D8E-9006-CEBD8C5F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34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4B4B6-E5A7-4F02-A67A-6FDDF3D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2533650" cy="369570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e24a06d70438f"/>
          <a:stretch xmlns:a="http://schemas.openxmlformats.org/drawingml/2006/main"/>
        </p:blipFill>
        <p:spPr>
          <a:xfrm xmlns:a="http://schemas.openxmlformats.org/drawingml/2006/main">
            <a:off x="3667028" y="1885950"/>
            <a:ext cx="1638494" cy="354330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88A72-E3EA-4E1A-95E6-7AEDF187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85950"/>
            <a:ext cx="2305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30122-1446-4AB8-A94F-9A7198DB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14525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检测站接车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5B11A-9A06-4557-A934-F989105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769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solidFill>
              <a:srgbClr val="E9F7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F8B7B-5696-44F0-B4CD-3BA80C5A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34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BBC21-BFDA-41A3-8A85-78948BEC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2533650" cy="369570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159d61e714f9c"/>
          <a:stretch xmlns:a="http://schemas.openxmlformats.org/drawingml/2006/main"/>
        </p:blipFill>
        <p:spPr>
          <a:xfrm xmlns:a="http://schemas.openxmlformats.org/drawingml/2006/main">
            <a:off x="6372128" y="1885950"/>
            <a:ext cx="1638494" cy="354330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F07C4-6D38-4648-B622-8D436809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2305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E9339-0D7D-4032-A9CC-486BCE57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14525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检测完成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DB69F-1271-46D2-A765-CF9EF017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769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solidFill>
              <a:srgbClr val="E9F7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D1446-DC59-452E-BB5E-59311350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34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9F2A9-600C-4E7E-9E3F-3861BF0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533650" cy="369570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967eda2b746de"/>
          <a:stretch xmlns:a="http://schemas.openxmlformats.org/drawingml/2006/main"/>
        </p:blipFill>
        <p:spPr>
          <a:xfrm xmlns:a="http://schemas.openxmlformats.org/drawingml/2006/main">
            <a:off x="9077228" y="1885950"/>
            <a:ext cx="1638494" cy="354330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A8EB13-689E-4917-AD66-C90A4093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3050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2CC46C-5E63-4919-8B82-9870477D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14525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司机送回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61754E-7E8A-423A-91FD-1946CFA3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769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solidFill>
              <a:srgbClr val="E9F7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88B068-8475-41AF-A2A7-8065BFBE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34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2A906-A68F-4456-B5B9-A9F40CD1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1080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司机取车：点“提交取车留证并推进” ｜ 检测站接车：点“提交留证并完成到站核验” ｜ 检测完成：点“填写体检报告并回传”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6E9C2A-9323-4CD5-B2D4-51C72C37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67450"/>
            <a:ext cx="1080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司机返程：点“开始送回车辆” → 拍满 5 张 → 点“提交送回留证并完成服务”</a:t>
            </a:r>
          </a:p>
        </p:txBody>
      </p:sp>
    </p:spTree>
    <p:extLst>
      <p:ext uri="{BB962C8B-B14F-4D97-AF65-F5344CB8AC3E}">
        <p14:creationId xmlns:p14="http://schemas.microsoft.com/office/powerpoint/2010/main" val="8901217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4D82D-A167-42B5-9E8B-8A3A287C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717FC-2AE3-4EBD-84CB-4B5F71F2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10 /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2BC61-4193-4931-B563-36D0A8C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车况故障与年检结论相互独立：有轻微剐蹭仍可年检通过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06A48-679D-47D4-9171-059CFA3F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检测站在车辆示意图定位右后翼子板，填写类型/程度/说明，并上传故障近照。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2473F-4543-4C57-96C4-6918895F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CA014-B90D-4BB1-B946-200BCE30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5720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f64b0fb3b4d6d"/>
          <a:stretch xmlns:a="http://schemas.openxmlformats.org/drawingml/2006/main"/>
        </p:blipFill>
        <p:spPr>
          <a:xfrm xmlns:a="http://schemas.openxmlformats.org/drawingml/2006/main">
            <a:off x="1844562" y="1809750"/>
            <a:ext cx="1911576" cy="4133850"/>
          </a:xfrm>
          <a:prstGeom xmlns:a="http://schemas.openxmlformats.org/drawingml/2006/main" prst="roundRect">
            <a:avLst>
              <a:gd name="adj" fmla="val 276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7D3D8-3AFC-4957-BD9A-8BB1E633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343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E144F-98F2-41C0-97C9-8048A255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415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检测站 · 故障定位 + 近照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1CBC6-E692-4005-A9BD-9348A923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33550"/>
            <a:ext cx="2857500" cy="4286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b353c979a46c2"/>
          <a:stretch xmlns:a="http://schemas.openxmlformats.org/drawingml/2006/main"/>
        </p:blipFill>
        <p:spPr>
          <a:xfrm xmlns:a="http://schemas.openxmlformats.org/drawingml/2006/main">
            <a:off x="5806962" y="1809750"/>
            <a:ext cx="1911576" cy="4133850"/>
          </a:xfrm>
          <a:prstGeom xmlns:a="http://schemas.openxmlformats.org/drawingml/2006/main" prst="roundRect">
            <a:avLst>
              <a:gd name="adj" fmla="val 422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8E419-2389-4EDB-A1FD-E1E51FF2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2628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BFD14-CCE5-4941-9A3B-FFE99002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38325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车主 · 报告弹窗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FA68D-C5E4-492D-AE4F-6AEF94EF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33550"/>
            <a:ext cx="2876550" cy="42862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1096F-792D-49FA-8DB2-D6E0EF2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764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solidFill>
              <a:srgbClr val="E9F7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7DEDC-A164-47E6-9BAD-F5C526B5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336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年检结论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7DAAA-0EB3-4C2B-AD52-433B3F31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57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1C3AD-9B47-4A4C-B989-5E6D98BF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DEEEE"/>
          </a:solidFill>
          <a:ln xmlns:a="http://schemas.openxmlformats.org/drawingml/2006/main" w="0">
            <a:solidFill>
              <a:srgbClr val="FDEE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D5A2C-F4D0-4ACD-A23D-3626D44E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车况故障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189EA-6758-409A-B82F-31AE4CA3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1 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51735-E057-49FD-9114-51E17967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7185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右后翼子板 · 轻微剐蹭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DAEE8-4425-4530-8C32-053807FA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约 8 cm；附现场特写照片。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AE424-AC01-4E01-9B8B-67D8FE8D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62500"/>
            <a:ext cx="2362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9525">
            <a:solidFill>
              <a:srgbClr val="C7DF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97567-B88F-46B0-A7F1-80F81032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911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普通车身问题不自动决定年检是否合格。</a:t>
            </a:r>
          </a:p>
        </p:txBody>
      </p:sp>
    </p:spTree>
    <p:extLst>
      <p:ext uri="{BB962C8B-B14F-4D97-AF65-F5344CB8AC3E}">
        <p14:creationId xmlns:p14="http://schemas.microsoft.com/office/powerpoint/2010/main" val="999428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2A3B3-6838-48CB-AC22-1051808B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1E99C-CEBE-4783-A22B-7D7CA7FE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11 / VISIBILITY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C4B2C-E145-46B8-AD4A-7D73BC16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结果发布后报告立即可查；代驾送回中仍保留车辆进度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C5828-DCCF-4089-BCF9-B6479657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客户和后台看到同一状态机、同一组留证和同一份报告，但只有只读权限。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20C01-17E3-47B1-8209-55525659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A7B9C-D62F-45F0-8AC6-E0E6F84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857500" cy="4286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32518e3dc45a2"/>
          <a:stretch xmlns:a="http://schemas.openxmlformats.org/drawingml/2006/main"/>
        </p:blipFill>
        <p:spPr>
          <a:xfrm xmlns:a="http://schemas.openxmlformats.org/drawingml/2006/main">
            <a:off x="987312" y="1809750"/>
            <a:ext cx="1911576" cy="4133850"/>
          </a:xfrm>
          <a:prstGeom xmlns:a="http://schemas.openxmlformats.org/drawingml/2006/main" prst="roundRect">
            <a:avLst>
              <a:gd name="adj" fmla="val 422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0CD83-0AE7-4F93-83C9-7EE78DED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628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4EE0C-D364-4125-804D-153C9B0A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 · 履约留证弹窗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6C25F-41C1-410B-BC1A-416275EF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33550"/>
            <a:ext cx="2857500" cy="4286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9b19a141e4f69"/>
          <a:stretch xmlns:a="http://schemas.openxmlformats.org/drawingml/2006/main"/>
        </p:blipFill>
        <p:spPr>
          <a:xfrm xmlns:a="http://schemas.openxmlformats.org/drawingml/2006/main">
            <a:off x="4092462" y="1809750"/>
            <a:ext cx="1911576" cy="4133850"/>
          </a:xfrm>
          <a:prstGeom xmlns:a="http://schemas.openxmlformats.org/drawingml/2006/main" prst="roundRect">
            <a:avLst>
              <a:gd name="adj" fmla="val 422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332FB-6FC8-4794-9B07-263D7B6A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09750"/>
            <a:ext cx="2628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EEB9A-0B23-46B4-A14C-CB019879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38325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 · 检测报告弹窗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01A62-663B-4D8F-9218-23CB92AF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49467e4944fb8"/>
          <a:stretch xmlns:a="http://schemas.openxmlformats.org/drawingml/2006/main"/>
        </p:blipFill>
        <p:spPr>
          <a:xfrm xmlns:a="http://schemas.openxmlformats.org/drawingml/2006/main">
            <a:off x="6800850" y="2185580"/>
            <a:ext cx="4438650" cy="3382190"/>
          </a:xfrm>
          <a:prstGeom xmlns:a="http://schemas.openxmlformats.org/drawingml/2006/main" prst="roundRect">
            <a:avLst>
              <a:gd name="adj" fmla="val 2765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3046D-07BF-41D2-A76B-33B53801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09750"/>
            <a:ext cx="4362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55044-34A5-4CDB-8C50-ACA014F7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38325"/>
            <a:ext cx="417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后台 · 全局订单详情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4C465-0E3B-41B9-B6A1-729770F3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080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图片用页面内弹窗查看，不挤占整张业务详情；历史订单缺少留证时明确显示“该节点未采集”，不补造数据。</a:t>
            </a:r>
          </a:p>
        </p:txBody>
      </p:sp>
    </p:spTree>
    <p:extLst>
      <p:ext uri="{BB962C8B-B14F-4D97-AF65-F5344CB8AC3E}">
        <p14:creationId xmlns:p14="http://schemas.microsoft.com/office/powerpoint/2010/main" val="161020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5962B-2762-44B3-9BAF-EE5C3CA5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C1610-C8AC-4535-82E3-B163E0B3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12 / REPAIR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A8825-0DFB-49AE-B1BA-56B100B7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从已发布体检报告一键生成维修询价，不重复手工录入故障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86064-3EC0-4B88-8B2D-3DCB5598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车主明确授权后，故障位置、描述和近照以报告快照形式提供给维修门店。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077AD-AA9F-4692-AFF7-E7D33C1B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8CB0E-D54E-4621-930E-FD1607F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476500" cy="42672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86a4d47944115"/>
          <a:stretch xmlns:a="http://schemas.openxmlformats.org/drawingml/2006/main"/>
        </p:blipFill>
        <p:spPr>
          <a:xfrm xmlns:a="http://schemas.openxmlformats.org/drawingml/2006/main">
            <a:off x="801216" y="1809750"/>
            <a:ext cx="1902767" cy="4114800"/>
          </a:xfrm>
          <a:prstGeom xmlns:a="http://schemas.openxmlformats.org/drawingml/2006/main" prst="roundRect">
            <a:avLst>
              <a:gd name="adj" fmla="val 491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B7353-70DB-4477-B343-BCC11377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47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5370D-C457-48B4-83C5-24F854DD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点“一键咨询维修报价”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1CB07-0E4F-4C94-A979-4AB63F6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33550"/>
            <a:ext cx="2476500" cy="42672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61115c41b4f17"/>
          <a:stretch xmlns:a="http://schemas.openxmlformats.org/drawingml/2006/main"/>
        </p:blipFill>
        <p:spPr>
          <a:xfrm xmlns:a="http://schemas.openxmlformats.org/drawingml/2006/main">
            <a:off x="3468216" y="1809750"/>
            <a:ext cx="1902767" cy="4114800"/>
          </a:xfrm>
          <a:prstGeom xmlns:a="http://schemas.openxmlformats.org/drawingml/2006/main" prst="roundRect">
            <a:avLst>
              <a:gd name="adj" fmla="val 491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C6D2D-0EC6-486B-A740-696A0367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2247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C2F90-B858-4843-A1D5-E642DA8D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383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核对导入的故障与近照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FBF9D-AC65-4B23-92A9-B66FE7A2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2476500" cy="42672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07c0d0e004d56"/>
          <a:stretch xmlns:a="http://schemas.openxmlformats.org/drawingml/2006/main"/>
        </p:blipFill>
        <p:spPr>
          <a:xfrm xmlns:a="http://schemas.openxmlformats.org/drawingml/2006/main">
            <a:off x="6135216" y="1809750"/>
            <a:ext cx="1902767" cy="4114800"/>
          </a:xfrm>
          <a:prstGeom xmlns:a="http://schemas.openxmlformats.org/drawingml/2006/main" prst="roundRect">
            <a:avLst>
              <a:gd name="adj" fmla="val 491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1B92D-D9AA-4FAE-B44C-95DB350B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2247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C9B63-8AD1-4D84-90F5-D1FA64E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383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勾选资料共享授权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0A5B1-DBC4-4A0B-A319-E4FA1907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33550"/>
            <a:ext cx="2800350" cy="426720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056b60d3b4ce0"/>
          <a:stretch xmlns:a="http://schemas.openxmlformats.org/drawingml/2006/main"/>
        </p:blipFill>
        <p:spPr>
          <a:xfrm xmlns:a="http://schemas.openxmlformats.org/drawingml/2006/main">
            <a:off x="8964141" y="1809750"/>
            <a:ext cx="1902767" cy="4114800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D15D1-5939-4DAD-99E6-A7755895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571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8EF58-2AAE-4DAE-9CB7-0391C946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383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点“发布维修询价”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4106F-45E2-45C6-8BF8-9B274238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080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操作顺序：报告点“一键咨询维修报价” → 核对故障与近照 → 勾选“同意共享上述维修询价资料” → 点“发布维修询价”。</a:t>
            </a:r>
          </a:p>
        </p:txBody>
      </p:sp>
    </p:spTree>
    <p:extLst>
      <p:ext uri="{BB962C8B-B14F-4D97-AF65-F5344CB8AC3E}">
        <p14:creationId xmlns:p14="http://schemas.microsoft.com/office/powerpoint/2010/main" val="16640334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116D5-C493-4DA5-80A4-C5021A3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7C59E-19E6-48D2-B671-40E30566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13 / QUOTES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B7F38-16D8-425E-B61B-E5705BB1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三家门店独立看故障、看近照、提交全款报价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A8536-415A-4217-9A18-B281F44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报价互相隔离；车主收到三份可比较方案，但系统不替车主自动选最低价。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7543E-16AF-4E9B-A978-973CDE1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91806-16A3-474E-AF1D-A61A2A0D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2571750" cy="33909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40edbf4ee4f1e"/>
          <a:stretch xmlns:a="http://schemas.openxmlformats.org/drawingml/2006/main"/>
        </p:blipFill>
        <p:spPr>
          <a:xfrm xmlns:a="http://schemas.openxmlformats.org/drawingml/2006/main">
            <a:off x="1051451" y="1866900"/>
            <a:ext cx="1497548" cy="3238500"/>
          </a:xfrm>
          <a:prstGeom xmlns:a="http://schemas.openxmlformats.org/drawingml/2006/main" prst="roundRect">
            <a:avLst>
              <a:gd name="adj" fmla="val 472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9D01A-9691-4A8E-9863-371442C4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343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55372-AA23-4EAA-BF1D-13EABED0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门店 A · 独立报价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1D2F8-84A5-44C8-A997-78DC9BF0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¥1,680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82A57-EF42-46A8-934F-F05E74FD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90700"/>
            <a:ext cx="2571750" cy="33909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f967f91ba4559"/>
          <a:stretch xmlns:a="http://schemas.openxmlformats.org/drawingml/2006/main"/>
        </p:blipFill>
        <p:spPr>
          <a:xfrm xmlns:a="http://schemas.openxmlformats.org/drawingml/2006/main">
            <a:off x="3832751" y="1866900"/>
            <a:ext cx="1497548" cy="3238500"/>
          </a:xfrm>
          <a:prstGeom xmlns:a="http://schemas.openxmlformats.org/drawingml/2006/main" prst="roundRect">
            <a:avLst>
              <a:gd name="adj" fmla="val 472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511B9-89DB-4B01-9103-397AD508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66900"/>
            <a:ext cx="2343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4B514-00C7-4F19-BF25-A780FC62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954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门店 B · 独立报价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A9535-4ACB-4E2B-8EAC-2C154693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34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¥1,980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8DA12-DC12-4FAB-9354-CA134CB1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2571750" cy="33909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13c9d2fb64274"/>
          <a:stretch xmlns:a="http://schemas.openxmlformats.org/drawingml/2006/main"/>
        </p:blipFill>
        <p:spPr>
          <a:xfrm xmlns:a="http://schemas.openxmlformats.org/drawingml/2006/main">
            <a:off x="6614051" y="1866900"/>
            <a:ext cx="1497548" cy="3238500"/>
          </a:xfrm>
          <a:prstGeom xmlns:a="http://schemas.openxmlformats.org/drawingml/2006/main" prst="roundRect">
            <a:avLst>
              <a:gd name="adj" fmla="val 4724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AB52F-3080-401D-8629-235F8725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23431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D06CB-B282-45F3-9860-08E3B718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954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门店 C · 独立报价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237D8-DEF6-4100-8229-9B12EE6E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¥2,350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2D497-D8CE-4412-91DB-2E76B5B8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457450" cy="39433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2670cc9374896"/>
          <a:stretch xmlns:a="http://schemas.openxmlformats.org/drawingml/2006/main"/>
        </p:blipFill>
        <p:spPr>
          <a:xfrm xmlns:a="http://schemas.openxmlformats.org/drawingml/2006/main">
            <a:off x="9210469" y="1866900"/>
            <a:ext cx="1753013" cy="3790950"/>
          </a:xfrm>
          <a:prstGeom xmlns:a="http://schemas.openxmlformats.org/drawingml/2006/main" prst="roundRect">
            <a:avLst>
              <a:gd name="adj" fmla="val 4959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7C6C4-6861-4D1F-8430-BEE4DD43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228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AEAE4-D3A9-4C54-86A4-0B75B15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95475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车主 · 3 份报价，未默认选择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43FEA-D47C-4123-9A9E-6BE5C114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80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每家门店：打开需求 → 点“立即报价” → 填写项目、金额和说明 → 点“提交报价 ¥金额”；车主点击“刷新报价”查看 3 份方案。</a:t>
            </a:r>
          </a:p>
        </p:txBody>
      </p:sp>
    </p:spTree>
    <p:extLst>
      <p:ext uri="{BB962C8B-B14F-4D97-AF65-F5344CB8AC3E}">
        <p14:creationId xmlns:p14="http://schemas.microsoft.com/office/powerpoint/2010/main" val="6367658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D3514-E0D7-4A63-97E3-9C3D887A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CCDCE-8E50-4FB6-8521-4259C289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14 /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94AFE-E0CD-45E5-8750-4718E861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车主明确选择第二份报价并模拟支付，权限随成交结果收口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85B6-47F9-4FBD-9BDB-E1A9B73B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排序第一不等于自动中选；成交回执冻结门店、金额和方案。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844DA-D3F1-4695-98DB-FC8D1375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5E54A-0A5E-49E7-9C54-3AE8C40C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514600" cy="41910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a4b80bdb247b0"/>
          <a:stretch xmlns:a="http://schemas.openxmlformats.org/drawingml/2006/main"/>
        </p:blipFill>
        <p:spPr>
          <a:xfrm xmlns:a="http://schemas.openxmlformats.org/drawingml/2006/main">
            <a:off x="837885" y="1809750"/>
            <a:ext cx="1867531" cy="40386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8C803-B094-41A4-9C8A-83C43505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86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84090-CFBF-4F3D-BDFD-0603C0A3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选择门店 B · ¥1,980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A7A86-1625-4FBE-B457-C33E5E21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33550"/>
            <a:ext cx="2514600" cy="41910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dd158340746bd"/>
          <a:stretch xmlns:a="http://schemas.openxmlformats.org/drawingml/2006/main"/>
        </p:blipFill>
        <p:spPr>
          <a:xfrm xmlns:a="http://schemas.openxmlformats.org/drawingml/2006/main">
            <a:off x="3542985" y="1809750"/>
            <a:ext cx="1867531" cy="40386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5534D-FBD7-4747-9867-9DCC45FA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286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EB01D-0510-4112-9F77-8FCB43A6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383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点“确认模拟支付”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CFFDD-C319-4573-A55A-586BF4C3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33550"/>
            <a:ext cx="2514600" cy="41910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90e9425be435a"/>
          <a:stretch xmlns:a="http://schemas.openxmlformats.org/drawingml/2006/main"/>
        </p:blipFill>
        <p:spPr>
          <a:xfrm xmlns:a="http://schemas.openxmlformats.org/drawingml/2006/main">
            <a:off x="6248085" y="1809750"/>
            <a:ext cx="1867531" cy="40386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548C2-7E60-471D-8623-770D5B89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2286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F8300-11B8-4043-8732-03A2AF01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383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点“查看成交回执”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5C16E-A396-4B6D-8D4A-C484A43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33550"/>
            <a:ext cx="2686050" cy="419100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31dca957a49e0"/>
          <a:stretch xmlns:a="http://schemas.openxmlformats.org/drawingml/2006/main"/>
        </p:blipFill>
        <p:spPr>
          <a:xfrm xmlns:a="http://schemas.openxmlformats.org/drawingml/2006/main">
            <a:off x="9038910" y="1809750"/>
            <a:ext cx="1867531" cy="4038600"/>
          </a:xfrm>
          <a:prstGeom xmlns:a="http://schemas.openxmlformats.org/drawingml/2006/main" prst="roundRect">
            <a:avLst>
              <a:gd name="adj" fmla="val 451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53DB6-B958-4C99-8538-2BB1E350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457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CB818-76C8-44A3-BDD6-A464F68B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38325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两家落选店 · 联系人锁定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FDFB7-8FB3-46DB-BAA8-A21D310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1080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7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7B35"/>
                </a:solidFill>
                <a:latin typeface="Microsoft YaHei"/>
                <a:ea typeface="Microsoft YaHei"/>
                <a:cs typeface="Microsoft YaHei"/>
              </a:rPr>
              <a:t>车主：选择门店 B → 点“确认模拟支付 ¥1,980” → 点“查看成交回执”；仅中选门店解锁联系人，模拟支付不真实扣款。</a:t>
            </a:r>
          </a:p>
        </p:txBody>
      </p:sp>
    </p:spTree>
    <p:extLst>
      <p:ext uri="{BB962C8B-B14F-4D97-AF65-F5344CB8AC3E}">
        <p14:creationId xmlns:p14="http://schemas.microsoft.com/office/powerpoint/2010/main" val="5451376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A93603-D99D-47E7-947C-76F3DD73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862D7-9BEA-4F70-9B5B-B662B0B2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976D2"/>
                </a:solidFill>
                <a:latin typeface="Microsoft YaHei"/>
                <a:ea typeface="Microsoft YaHei"/>
                <a:cs typeface="Microsoft YaHei"/>
              </a:rPr>
              <a:t>15 /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5022D-8D97-4036-8945-3975AF43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3B5D"/>
                </a:solidFill>
                <a:latin typeface="Microsoft YaHei"/>
                <a:ea typeface="Microsoft YaHei"/>
                <a:cs typeface="Microsoft YaHei"/>
              </a:rPr>
              <a:t>可演示、可复测、边界透明：这才是可信的业务闭环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15AF8-528D-4D01-95E2-788C9376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8194"/>
                </a:solidFill>
                <a:latin typeface="Microsoft YaHei"/>
                <a:ea typeface="Microsoft YaHei"/>
                <a:cs typeface="Microsoft YaHei"/>
              </a:rPr>
              <a:t>操作手册既告诉演示者点什么，也明确哪些能力仍属于正式上线前工作。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F55AB-082A-4A02-AC35-D1D7396B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DA1B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1AD70-D3C8-47A8-B103-2B9A2E9A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1816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2370A-76AE-440F-ABE4-BE5CDF4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0">
            <a:solidFill>
              <a:srgbClr val="E9F7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2C198-F162-4133-834E-832CD020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已纳入本地闭环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D9F80-D93A-48D1-8044-93B92320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2F6C9-3D7A-47A9-8D6F-95D13112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A3888-FC6C-46CD-9DCC-D1748760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自驾与代驾两条年检状态机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E3BE1-A813-4B23-8935-E4136CC5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ACF47-EF59-4637-B6B4-1139679D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2F747-0856-462D-B445-0A1B1B4F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非零服务端报价快照与模拟支付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96808-82F3-4331-814B-DB0A9071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C9DEE-6E0C-4C84-B1A9-10AC5DA5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D50C1-76D5-43D7-8493-A0DCAA0F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司机/检测站四阶段留证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7D00A-15F8-46ED-BB0A-5DA4C629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7DAC7-9823-4A03-AD4B-0C3E1E82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E8FC7-CDDF-4309-A855-C736E02E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通过/未通过报告、故障与照片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69B82-4476-473C-967C-DD279D3C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0">
            <a:solidFill>
              <a:srgbClr val="1976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13EBE-1978-4A3E-A667-D7B5FDC0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558D5-58D5-476F-872D-A603B438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多维修店报价、车主选择、成交权限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F68BF-49DD-4F14-A0D9-167B4D3E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90700"/>
            <a:ext cx="53530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103B5D"/>
          </a:solidFill>
          <a:ln xmlns:a="http://schemas.openxmlformats.org/drawingml/2006/main" w="0">
            <a:solidFill>
              <a:srgbClr val="103B5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6203A-3440-475D-8256-E3964D74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0">
            <a:solidFill>
              <a:srgbClr val="FFF2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29FD0-7BA0-4256-8617-8378878E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7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07B35"/>
                </a:solidFill>
                <a:latin typeface="Microsoft YaHei"/>
                <a:ea typeface="Microsoft YaHei"/>
                <a:cs typeface="Microsoft YaHei"/>
              </a:rPr>
              <a:t>正式上线前边界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3331E-C940-4E75-90B8-72C9BA69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微信小程序审核与公网部署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83D7D5-74AB-4A81-AF38-FF398E8D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真实支付 SDK 与资金清结算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551AE-0A6D-4008-A0E0-0452E6FE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检测站正式系统与法定材料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32ADF6-35AE-47E1-9ECD-2F87A213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司机实名认证、风控与运营调度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181E8F-1848-41FB-B404-3DBC888E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线下维修拆检、施工、质保、交车验收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C3F83-89AD-47A5-BD26-38D8870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0801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BDE7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8ECBC8-2A82-4979-BA34-A873D952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1042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9B68"/>
                </a:solidFill>
                <a:latin typeface="Microsoft YaHei"/>
                <a:ea typeface="Microsoft YaHei"/>
                <a:cs typeface="Microsoft YaHei"/>
              </a:rPr>
              <a:t>验收结论：当前版本已使用真实车辆图片完成全链路界面点击回归，业务与权限闭环通过。</a:t>
            </a:r>
          </a:p>
        </p:txBody>
      </p:sp>
    </p:spTree>
    <p:extLst>
      <p:ext uri="{BB962C8B-B14F-4D97-AF65-F5344CB8AC3E}">
        <p14:creationId xmlns:p14="http://schemas.microsoft.com/office/powerpoint/2010/main" val="381294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2026-08-29T21:35:01.0060000Z</dcterms:created>
  <dcterms:modified xsi:type="dcterms:W3CDTF">2026-08-29T21:35:01.0060000Z</dcterms:modified>
</coreProperties>
</file>